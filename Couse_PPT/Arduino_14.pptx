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  <p:sldMasterId id="2147483699" r:id="rId3"/>
  </p:sldMasterIdLst>
  <p:sldIdLst>
    <p:sldId id="256" r:id="rId4"/>
    <p:sldId id="280" r:id="rId5"/>
    <p:sldId id="261" r:id="rId6"/>
    <p:sldId id="262" r:id="rId7"/>
    <p:sldId id="281" r:id="rId8"/>
    <p:sldId id="263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Objects="1">
      <p:cViewPr varScale="1">
        <p:scale>
          <a:sx n="78" d="100"/>
          <a:sy n="78" d="100"/>
        </p:scale>
        <p:origin x="1594" y="72"/>
      </p:cViewPr>
      <p:guideLst>
        <p:guide orient="horz" pos="2160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6BD328CB-0F4E-4057-B9A4-3F943B20EA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27F5C52-2C39-4DEE-99DB-546616BA5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5AFC5A-1AF9-4B62-833F-690D000EA5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86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CD622AE1-85B1-4143-9DDB-A34AB41760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A0C9F6EF-F2D5-4E5A-8DD8-141D5335F6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A255CB-2FC2-4D54-9A74-AC8E87E11D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95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4FF4D015-404E-4536-BB6C-E1F84DAB25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86550858-DF6B-47E5-A68F-BAB9A8C2C5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DC2B60-267F-4C30-8D22-823FC25C9E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72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DA77BD8-58A0-44D3-BF3D-91CD078389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410AA185-8CA2-475B-A690-AE9F3CD8F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8D6D69-0C5B-4605-BA5B-1F1F1FFCC4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5328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9E03EA9A-6138-4180-8D2B-653B4337CA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72CEDCAE-71CC-4106-A1E0-C8E8B5AD1E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AA8BC1-0F3F-41BA-B1AB-54F03B78F2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178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9107D8E3-FE27-4B6C-A3BD-746D931E6C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CB101B1B-31A5-4C47-B972-7ABEA3ABC1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162B0D-E5F3-4410-8B50-92A2FDE2DC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987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666D4D12-68B1-4C38-9375-1F867FC025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FDBB2C4D-631A-4069-9804-EFB6BD7A32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FDD40-23FC-4FED-814E-979E8A344C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6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371EC206-FE68-4AA4-A22F-5533D08370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E2316616-5D44-4AE2-A6C5-33BDA79095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150C52-0CC0-4648-91A4-3399834EE6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91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7293D291-8F16-44BC-A6CD-94DCC71839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953EDC07-B13C-4849-B95A-8A90FDC914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ABB455-06BC-44E9-A7E5-1F4C00C349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67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8368CE1-BF5E-41D1-B305-B9D6B514F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C48FC0B0-48AA-4F48-9931-73F6C9D99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30B297-CA17-4A83-BAB3-D628B413D1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21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C21A2F80-9DC5-4AA9-B2D0-8FE6BFB90C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D8B151DD-2DCA-4AF1-8A3B-DB10519A3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ED882-AEC2-4F21-A17D-B8869DDFFD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6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5A2E9921-C407-44EA-9624-95BBE01A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9EDD54BE-5CC4-429C-9DDB-D9A34E05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8A144881-7BD5-487F-9279-0264C9C0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C2D695-EF1A-4F8A-B11E-F54B039B0F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68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C427378F-83FC-4DC2-A564-E39AF610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CF25F51A-6FA4-40F3-A157-A8EE1638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E7D81D85-B0E1-41AA-960C-2782B713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97CB97-DEA6-413C-9F66-3E5E0A08FB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36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0BDD1C90-97B9-4990-8F16-080224C0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86854148-C052-4374-BA1B-6A9AC4062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85C6ED71-F400-4D9D-9B51-9807328C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14A794-CE97-48B1-B1D2-D1B74FE2C7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87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007427A3-A960-47AF-BDA9-A749555B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44B9FDA0-1D50-4743-97A2-CD7735BB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890AF705-61D0-4A64-AA78-0BB891B2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464F8D-45AF-4D56-810D-A3274BA474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5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4100">
            <a:extLst>
              <a:ext uri="{FF2B5EF4-FFF2-40B4-BE49-F238E27FC236}">
                <a16:creationId xmlns:a16="http://schemas.microsoft.com/office/drawing/2014/main" id="{1EFCD166-39D7-48AE-91C9-62175BCE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101">
            <a:extLst>
              <a:ext uri="{FF2B5EF4-FFF2-40B4-BE49-F238E27FC236}">
                <a16:creationId xmlns:a16="http://schemas.microsoft.com/office/drawing/2014/main" id="{69CC61B8-8753-42AB-9307-9BF205236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4102">
            <a:extLst>
              <a:ext uri="{FF2B5EF4-FFF2-40B4-BE49-F238E27FC236}">
                <a16:creationId xmlns:a16="http://schemas.microsoft.com/office/drawing/2014/main" id="{C2B1441C-0EB7-4894-862E-A7407826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3A186E-8F7F-4A72-A1CB-62EA05BAF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93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4100">
            <a:extLst>
              <a:ext uri="{FF2B5EF4-FFF2-40B4-BE49-F238E27FC236}">
                <a16:creationId xmlns:a16="http://schemas.microsoft.com/office/drawing/2014/main" id="{4CB7BEE0-29F6-41DB-8E13-546B9F49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101">
            <a:extLst>
              <a:ext uri="{FF2B5EF4-FFF2-40B4-BE49-F238E27FC236}">
                <a16:creationId xmlns:a16="http://schemas.microsoft.com/office/drawing/2014/main" id="{E6BF02AF-1CD8-4C90-9497-F1795693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102">
            <a:extLst>
              <a:ext uri="{FF2B5EF4-FFF2-40B4-BE49-F238E27FC236}">
                <a16:creationId xmlns:a16="http://schemas.microsoft.com/office/drawing/2014/main" id="{AE8B61B1-CE2D-4AF3-BA47-B77EC35C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6C5FD1-3DA7-4157-8B15-6E5E054467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1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100">
            <a:extLst>
              <a:ext uri="{FF2B5EF4-FFF2-40B4-BE49-F238E27FC236}">
                <a16:creationId xmlns:a16="http://schemas.microsoft.com/office/drawing/2014/main" id="{C9A5E746-8B92-4923-B2AD-AC314361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101">
            <a:extLst>
              <a:ext uri="{FF2B5EF4-FFF2-40B4-BE49-F238E27FC236}">
                <a16:creationId xmlns:a16="http://schemas.microsoft.com/office/drawing/2014/main" id="{DC3BB0DF-7094-4645-8BDF-FA0F2C4D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4102">
            <a:extLst>
              <a:ext uri="{FF2B5EF4-FFF2-40B4-BE49-F238E27FC236}">
                <a16:creationId xmlns:a16="http://schemas.microsoft.com/office/drawing/2014/main" id="{2AA9B7B0-ACF5-40A6-AA00-6EBDA6EE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FCFF2C-A5EC-4651-81B1-19F382C23B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57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259907FD-CB3B-46D0-8A48-FE48179B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067A6FA0-6477-4444-8FA1-CD417431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4845E455-A040-4858-9AF2-5857663C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E85A8F-47E0-4408-87E8-7E96CAA0996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4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100">
            <a:extLst>
              <a:ext uri="{FF2B5EF4-FFF2-40B4-BE49-F238E27FC236}">
                <a16:creationId xmlns:a16="http://schemas.microsoft.com/office/drawing/2014/main" id="{E2D80A07-51BC-41A1-9536-F2618133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101">
            <a:extLst>
              <a:ext uri="{FF2B5EF4-FFF2-40B4-BE49-F238E27FC236}">
                <a16:creationId xmlns:a16="http://schemas.microsoft.com/office/drawing/2014/main" id="{20F64861-FBBC-413A-9687-EABB3A3B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4102">
            <a:extLst>
              <a:ext uri="{FF2B5EF4-FFF2-40B4-BE49-F238E27FC236}">
                <a16:creationId xmlns:a16="http://schemas.microsoft.com/office/drawing/2014/main" id="{FABF1E2E-2A46-4A72-B7C6-F0313323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E0D5D7-CEC1-4B48-9D56-FD2E9B3578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36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428F4CB4-1F1F-4C3E-96F6-DE3A996B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1164A12E-0A8E-4550-939C-FAD22B6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BBBA476A-12AD-4506-AC3A-80D31FDC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B7F921-B690-44D5-853E-E4D1140770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1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32BEE0BE-A08E-4EDB-B3A2-1796930C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361F2EFF-70D0-4361-9462-8A7C854E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01D9D9FC-12CB-4DB7-A29D-2520D0EC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B0BD2D-4DBC-44A4-8AB2-F8920B3EE0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941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Date Placeholder 4100">
            <a:extLst>
              <a:ext uri="{FF2B5EF4-FFF2-40B4-BE49-F238E27FC236}">
                <a16:creationId xmlns:a16="http://schemas.microsoft.com/office/drawing/2014/main" id="{A08935DF-9F2A-45C0-B79E-81D96883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101">
            <a:extLst>
              <a:ext uri="{FF2B5EF4-FFF2-40B4-BE49-F238E27FC236}">
                <a16:creationId xmlns:a16="http://schemas.microsoft.com/office/drawing/2014/main" id="{5D19EF73-E851-4C63-86BD-20853041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102">
            <a:extLst>
              <a:ext uri="{FF2B5EF4-FFF2-40B4-BE49-F238E27FC236}">
                <a16:creationId xmlns:a16="http://schemas.microsoft.com/office/drawing/2014/main" id="{A3919B91-C502-414E-A776-F77B1CC1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734FB-7F69-441D-824F-CBBBB4FFD7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59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C6F3D526-5F43-449F-BE8B-9E6064D340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1ACE39DF-42D9-4A88-A0E8-48E62B2BBD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535F21-8D29-40CB-BD52-60464A6AB06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30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322C946C-A56B-4829-884D-0D2F0FAE46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F0D45B1B-A6EF-419A-AD4D-66A294C636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9ACB39-07E0-4E1A-9B02-7A29F4F022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599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90ED5EAD-2C25-4F64-895E-EA4476F2E9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4ADF894A-B158-4C67-A3CF-1CB7AE0D98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B8D591-B2EE-414C-94BD-E0AF1AF6EE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81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1788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0554" y="1600200"/>
            <a:ext cx="2227834" cy="4525963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EFF5B75D-1C74-4FC9-9258-D20B3C1132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9DA1E467-64FE-4199-A43D-BBF2FDDA05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B69D9E-B9FC-440C-8A9D-84C1BBE579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74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Footer Placeholder 3076">
            <a:extLst>
              <a:ext uri="{FF2B5EF4-FFF2-40B4-BE49-F238E27FC236}">
                <a16:creationId xmlns:a16="http://schemas.microsoft.com/office/drawing/2014/main" id="{C87C45A9-B63A-4C46-86BF-A74B581296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3077">
            <a:extLst>
              <a:ext uri="{FF2B5EF4-FFF2-40B4-BE49-F238E27FC236}">
                <a16:creationId xmlns:a16="http://schemas.microsoft.com/office/drawing/2014/main" id="{947FC800-741C-4B5E-824C-9F13CCE06B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AF50BB-F563-4F00-B132-D65D3BC4722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5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Footer Placeholder 3076">
            <a:extLst>
              <a:ext uri="{FF2B5EF4-FFF2-40B4-BE49-F238E27FC236}">
                <a16:creationId xmlns:a16="http://schemas.microsoft.com/office/drawing/2014/main" id="{41D6E8E1-AB4A-4D9E-B06D-B661CE252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077">
            <a:extLst>
              <a:ext uri="{FF2B5EF4-FFF2-40B4-BE49-F238E27FC236}">
                <a16:creationId xmlns:a16="http://schemas.microsoft.com/office/drawing/2014/main" id="{83FDDD7A-D26D-48DE-9F79-79389683B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06D9F0-923A-478A-A836-A99ED9915B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86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076">
            <a:extLst>
              <a:ext uri="{FF2B5EF4-FFF2-40B4-BE49-F238E27FC236}">
                <a16:creationId xmlns:a16="http://schemas.microsoft.com/office/drawing/2014/main" id="{A08B2C10-415A-41FF-A36C-4A1C3713D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3077">
            <a:extLst>
              <a:ext uri="{FF2B5EF4-FFF2-40B4-BE49-F238E27FC236}">
                <a16:creationId xmlns:a16="http://schemas.microsoft.com/office/drawing/2014/main" id="{D8E06CDD-65AB-4F4E-BB6B-9BFBD29AA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170318-7F11-4CA5-9782-9805943CDE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452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B399229F-6FC7-4C2B-B425-B49CC99C79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229D8B8A-BD68-4CB8-AC7F-124E410CFE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3A5735-FD61-403D-AF25-2AE639E116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37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Footer Placeholder 3076">
            <a:extLst>
              <a:ext uri="{FF2B5EF4-FFF2-40B4-BE49-F238E27FC236}">
                <a16:creationId xmlns:a16="http://schemas.microsoft.com/office/drawing/2014/main" id="{FCF40ED6-28B9-4743-BEBA-EFAF944F1D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3077">
            <a:extLst>
              <a:ext uri="{FF2B5EF4-FFF2-40B4-BE49-F238E27FC236}">
                <a16:creationId xmlns:a16="http://schemas.microsoft.com/office/drawing/2014/main" id="{BAA3D97E-E2DC-4590-9F81-5734A2ADCB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C5A4EC-951B-4C08-AF33-E33E55C887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771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79DEBCF5-45FD-453C-B26E-91A8B25869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9E1B573F-86F0-4155-874D-21592E9B43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609D0E-206D-4FF6-A06D-AF668368F5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346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7344" y="274638"/>
            <a:ext cx="2001044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274638"/>
            <a:ext cx="5887129" cy="5851525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Footer Placeholder 3076">
            <a:extLst>
              <a:ext uri="{FF2B5EF4-FFF2-40B4-BE49-F238E27FC236}">
                <a16:creationId xmlns:a16="http://schemas.microsoft.com/office/drawing/2014/main" id="{A92917F3-49FB-4407-8BCD-5AB85214E3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077">
            <a:extLst>
              <a:ext uri="{FF2B5EF4-FFF2-40B4-BE49-F238E27FC236}">
                <a16:creationId xmlns:a16="http://schemas.microsoft.com/office/drawing/2014/main" id="{37868D99-7983-4467-9CF4-E5999B7CC4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91DC06-CD74-456A-9CE7-667D43407F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604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30C3728-251D-09FA-7C7B-3625F7A620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1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64628"/>
      </p:ext>
    </p:extLst>
  </p:cSld>
  <p:clrMapOvr>
    <a:masterClrMapping/>
  </p:clrMapOvr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073" descr="hand">
            <a:extLst>
              <a:ext uri="{FF2B5EF4-FFF2-40B4-BE49-F238E27FC236}">
                <a16:creationId xmlns:a16="http://schemas.microsoft.com/office/drawing/2014/main" id="{54C4E29F-C808-4AC4-B838-04D4228DB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913" y="1720850"/>
            <a:ext cx="4652963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3074">
            <a:extLst>
              <a:ext uri="{FF2B5EF4-FFF2-40B4-BE49-F238E27FC236}">
                <a16:creationId xmlns:a16="http://schemas.microsoft.com/office/drawing/2014/main" id="{9C4776BC-25B6-4B44-9682-7B81247F7A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3075">
            <a:extLst>
              <a:ext uri="{FF2B5EF4-FFF2-40B4-BE49-F238E27FC236}">
                <a16:creationId xmlns:a16="http://schemas.microsoft.com/office/drawing/2014/main" id="{D8CD370C-AEC1-4195-AB94-848308DC76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7823FB3E-4460-4D4C-A7E3-E7FF56359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ABA513BD-2ACE-4F7B-8386-BF703FFCC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F8E79B-7885-478D-B9CB-1786708F4CA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9" r:id="rId2"/>
    <p:sldLayoutId id="2147483708" r:id="rId3"/>
    <p:sldLayoutId id="2147483707" r:id="rId4"/>
    <p:sldLayoutId id="2147483706" r:id="rId5"/>
    <p:sldLayoutId id="2147483705" r:id="rId6"/>
    <p:sldLayoutId id="2147483704" r:id="rId7"/>
    <p:sldLayoutId id="2147483703" r:id="rId8"/>
    <p:sldLayoutId id="2147483702" r:id="rId9"/>
    <p:sldLayoutId id="2147483701" r:id="rId10"/>
    <p:sldLayoutId id="2147483700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097" descr="title">
            <a:extLst>
              <a:ext uri="{FF2B5EF4-FFF2-40B4-BE49-F238E27FC236}">
                <a16:creationId xmlns:a16="http://schemas.microsoft.com/office/drawing/2014/main" id="{A17A9518-8868-441C-8D8D-EE63EE8605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4098">
            <a:extLst>
              <a:ext uri="{FF2B5EF4-FFF2-40B4-BE49-F238E27FC236}">
                <a16:creationId xmlns:a16="http://schemas.microsoft.com/office/drawing/2014/main" id="{7F06AF58-5D6B-45D3-8136-3B989E2232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95513" y="101600"/>
            <a:ext cx="6769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4099">
            <a:extLst>
              <a:ext uri="{FF2B5EF4-FFF2-40B4-BE49-F238E27FC236}">
                <a16:creationId xmlns:a16="http://schemas.microsoft.com/office/drawing/2014/main" id="{1314916E-7465-4D7F-9398-EB87AA487A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Date Placeholder 4100">
            <a:extLst>
              <a:ext uri="{FF2B5EF4-FFF2-40B4-BE49-F238E27FC236}">
                <a16:creationId xmlns:a16="http://schemas.microsoft.com/office/drawing/2014/main" id="{C47D871F-45FF-49C2-82A2-DB5D18BD5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en-US"/>
          </a:p>
        </p:txBody>
      </p:sp>
      <p:sp>
        <p:nvSpPr>
          <p:cNvPr id="4102" name="Footer Placeholder 4101">
            <a:extLst>
              <a:ext uri="{FF2B5EF4-FFF2-40B4-BE49-F238E27FC236}">
                <a16:creationId xmlns:a16="http://schemas.microsoft.com/office/drawing/2014/main" id="{B4776B8B-DF40-4F88-AE5C-271D70A47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4103" name="Slide Number Placeholder 4102">
            <a:extLst>
              <a:ext uri="{FF2B5EF4-FFF2-40B4-BE49-F238E27FC236}">
                <a16:creationId xmlns:a16="http://schemas.microsoft.com/office/drawing/2014/main" id="{86D3A8B8-7031-4A11-A896-297DD823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B6FC34B7-98CC-48F7-B994-687D6B6FE60E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1" r:id="rId2"/>
    <p:sldLayoutId id="2147483720" r:id="rId3"/>
    <p:sldLayoutId id="2147483719" r:id="rId4"/>
    <p:sldLayoutId id="2147483718" r:id="rId5"/>
    <p:sldLayoutId id="2147483717" r:id="rId6"/>
    <p:sldLayoutId id="2147483716" r:id="rId7"/>
    <p:sldLayoutId id="2147483715" r:id="rId8"/>
    <p:sldLayoutId id="2147483714" r:id="rId9"/>
    <p:sldLayoutId id="2147483713" r:id="rId10"/>
    <p:sldLayoutId id="2147483712" r:id="rId11"/>
    <p:sldLayoutId id="2147483711" r:id="rId12"/>
  </p:sldLayoutIdLst>
  <p:txStyles>
    <p:titleStyle>
      <a:lvl1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074">
            <a:extLst>
              <a:ext uri="{FF2B5EF4-FFF2-40B4-BE49-F238E27FC236}">
                <a16:creationId xmlns:a16="http://schemas.microsoft.com/office/drawing/2014/main" id="{4C20D704-40EE-411C-BFD2-F0DE34CC2E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4213" y="274638"/>
            <a:ext cx="8002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3075">
            <a:extLst>
              <a:ext uri="{FF2B5EF4-FFF2-40B4-BE49-F238E27FC236}">
                <a16:creationId xmlns:a16="http://schemas.microsoft.com/office/drawing/2014/main" id="{9FF39064-E813-494A-AFFB-2C88C4A412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41788" y="1600200"/>
            <a:ext cx="4546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7" name="Footer Placeholder 3076">
            <a:extLst>
              <a:ext uri="{FF2B5EF4-FFF2-40B4-BE49-F238E27FC236}">
                <a16:creationId xmlns:a16="http://schemas.microsoft.com/office/drawing/2014/main" id="{A894882F-FE6B-498D-9621-C12EE0CDF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en-US"/>
          </a:p>
        </p:txBody>
      </p:sp>
      <p:sp>
        <p:nvSpPr>
          <p:cNvPr id="3078" name="Slide Number Placeholder 3077">
            <a:extLst>
              <a:ext uri="{FF2B5EF4-FFF2-40B4-BE49-F238E27FC236}">
                <a16:creationId xmlns:a16="http://schemas.microsoft.com/office/drawing/2014/main" id="{192E22F3-983B-4FC0-B343-7473F8DD5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>
                <a:ea typeface="Arial" panose="020B0604020202020204" pitchFamily="34" charset="0"/>
                <a:cs typeface="+mn-ea"/>
              </a:defRPr>
            </a:lvl1pPr>
          </a:lstStyle>
          <a:p>
            <a:fld id="{00313FD0-E6EE-415E-8E5F-0050DA888914}" type="slidenum">
              <a:rPr lang="en-US"/>
              <a:pPr/>
              <a:t>‹#›</a:t>
            </a:fld>
            <a:endParaRPr lang="en-US"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E399D08-D6F5-F727-4F0C-8ED9A057E74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5" y="2492896"/>
            <a:ext cx="2286959" cy="3125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41" r:id="rId3"/>
    <p:sldLayoutId id="2147483740" r:id="rId4"/>
    <p:sldLayoutId id="2147483739" r:id="rId5"/>
    <p:sldLayoutId id="2147483738" r:id="rId6"/>
    <p:sldLayoutId id="2147483737" r:id="rId7"/>
    <p:sldLayoutId id="2147483736" r:id="rId8"/>
    <p:sldLayoutId id="2147483735" r:id="rId9"/>
    <p:sldLayoutId id="2147483734" r:id="rId10"/>
    <p:sldLayoutId id="2147483733" r:id="rId11"/>
    <p:sldLayoutId id="2147483744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微軟正黑體" panose="020B0604030504040204" pitchFamily="34" charset="-120"/>
          <a:ea typeface="微軟正黑體" panose="020B0604030504040204" pitchFamily="34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7169">
            <a:extLst>
              <a:ext uri="{FF2B5EF4-FFF2-40B4-BE49-F238E27FC236}">
                <a16:creationId xmlns:a16="http://schemas.microsoft.com/office/drawing/2014/main" id="{DCBBE725-B664-4254-9364-E18ECBEA1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第十四章 伺服馬達、數位濾波、資料排序、</a:t>
            </a:r>
            <a:r>
              <a:rPr lang="en-US" altLang="zh-TW" sz="3600" dirty="0"/>
              <a:t>EEPROM</a:t>
            </a:r>
            <a:r>
              <a:rPr lang="zh-TW" altLang="en-US" sz="3600" dirty="0"/>
              <a:t>與體感控制機械雲台</a:t>
            </a:r>
          </a:p>
        </p:txBody>
      </p:sp>
      <p:sp>
        <p:nvSpPr>
          <p:cNvPr id="7170" name="Text Placeholder 7170">
            <a:extLst>
              <a:ext uri="{FF2B5EF4-FFF2-40B4-BE49-F238E27FC236}">
                <a16:creationId xmlns:a16="http://schemas.microsoft.com/office/drawing/2014/main" id="{94B10F5B-01EC-4868-B979-0441ABD90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1880" y="1600200"/>
            <a:ext cx="5328592" cy="4853136"/>
          </a:xfrm>
        </p:spPr>
        <p:txBody>
          <a:bodyPr/>
          <a:lstStyle/>
          <a:p>
            <a:r>
              <a:rPr lang="zh-TW" altLang="en-US" sz="2400" dirty="0"/>
              <a:t>認識伺服馬達</a:t>
            </a:r>
          </a:p>
          <a:p>
            <a:r>
              <a:rPr lang="zh-TW" altLang="en-US" sz="2400" dirty="0"/>
              <a:t>吃錢幣存錢筒</a:t>
            </a:r>
          </a:p>
          <a:p>
            <a:r>
              <a:rPr lang="zh-TW" altLang="en-US" sz="2400" dirty="0"/>
              <a:t>自製伺服馬達雲台</a:t>
            </a:r>
          </a:p>
          <a:p>
            <a:r>
              <a:rPr lang="zh-TW" altLang="en-US" sz="2400" dirty="0"/>
              <a:t>簡易數位濾波以及資料排序演算法</a:t>
            </a:r>
            <a:endParaRPr lang="en-US" altLang="zh-TW" sz="2400" dirty="0"/>
          </a:p>
          <a:p>
            <a:r>
              <a:rPr lang="zh-TW" altLang="en-US" sz="2400" dirty="0"/>
              <a:t>排序原理與實作</a:t>
            </a:r>
            <a:endParaRPr lang="en-US" altLang="zh-TW" sz="2400" dirty="0"/>
          </a:p>
          <a:p>
            <a:r>
              <a:rPr lang="zh-TW" altLang="en-US" sz="2400" dirty="0"/>
              <a:t>使用陀螺儀和加速度計模組控制伺服馬達雲台</a:t>
            </a:r>
            <a:endParaRPr lang="en-US" altLang="zh-TW" sz="2400" dirty="0"/>
          </a:p>
          <a:p>
            <a:r>
              <a:rPr lang="zh-TW" altLang="en-US" sz="2400" dirty="0"/>
              <a:t>認識 </a:t>
            </a:r>
            <a:r>
              <a:rPr lang="en-US" altLang="zh-TW" sz="2400" dirty="0"/>
              <a:t>MPU-6050 </a:t>
            </a:r>
            <a:r>
              <a:rPr lang="zh-TW" altLang="en-US" sz="2400" dirty="0"/>
              <a:t>陀螺儀和加速度感測器模組</a:t>
            </a:r>
            <a:endParaRPr lang="en-US" altLang="zh-TW" sz="2400" dirty="0"/>
          </a:p>
          <a:p>
            <a:r>
              <a:rPr lang="zh-TW" altLang="en-US" sz="2400" dirty="0"/>
              <a:t>存取</a:t>
            </a:r>
            <a:r>
              <a:rPr lang="en-US" altLang="zh-TW" sz="2400" dirty="0"/>
              <a:t>EEPROM</a:t>
            </a:r>
            <a:r>
              <a:rPr lang="zh-TW" altLang="en-US" sz="2400" dirty="0"/>
              <a:t>記憶體</a:t>
            </a:r>
            <a:endParaRPr lang="en-US" altLang="zh-TW" sz="2400" dirty="0"/>
          </a:p>
          <a:p>
            <a:r>
              <a:rPr lang="zh-TW" altLang="en-US" sz="2400" dirty="0"/>
              <a:t>讀取 </a:t>
            </a:r>
            <a:r>
              <a:rPr lang="en-US" altLang="zh-TW" sz="2400" dirty="0"/>
              <a:t>IMU </a:t>
            </a:r>
            <a:r>
              <a:rPr lang="zh-TW" altLang="en-US" sz="2400" dirty="0"/>
              <a:t>數據並繪圖顯示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8193">
            <a:extLst>
              <a:ext uri="{FF2B5EF4-FFF2-40B4-BE49-F238E27FC236}">
                <a16:creationId xmlns:a16="http://schemas.microsoft.com/office/drawing/2014/main" id="{0869637E-B6A4-43D4-84BB-E2488EA5B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認識伺服馬達</a:t>
            </a:r>
          </a:p>
        </p:txBody>
      </p:sp>
      <p:pic>
        <p:nvPicPr>
          <p:cNvPr id="8194" name="Picture 8194" descr="s3">
            <a:extLst>
              <a:ext uri="{FF2B5EF4-FFF2-40B4-BE49-F238E27FC236}">
                <a16:creationId xmlns:a16="http://schemas.microsoft.com/office/drawing/2014/main" id="{437BF51A-CC7E-4E0A-8AEB-44797E620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05263"/>
            <a:ext cx="4248150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8196" descr="s2">
            <a:extLst>
              <a:ext uri="{FF2B5EF4-FFF2-40B4-BE49-F238E27FC236}">
                <a16:creationId xmlns:a16="http://schemas.microsoft.com/office/drawing/2014/main" id="{D9BA2A85-2B16-431F-AA85-8450948D1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29225"/>
            <a:ext cx="481965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 Box 8197">
            <a:extLst>
              <a:ext uri="{FF2B5EF4-FFF2-40B4-BE49-F238E27FC236}">
                <a16:creationId xmlns:a16="http://schemas.microsoft.com/office/drawing/2014/main" id="{2644A683-149D-4F25-84EA-CF2A593B7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01800"/>
            <a:ext cx="4032250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en-US">
                <a:latin typeface="微軟正黑體" panose="020B0604030504040204" pitchFamily="34" charset="-120"/>
              </a:rPr>
              <a:t>伺服馬達（Servo）是一種用於精確移動、定位場合的動力裝置</a:t>
            </a:r>
            <a:r>
              <a:rPr lang="zh-TW" altLang="en-US">
                <a:latin typeface="微軟正黑體" panose="020B0604030504040204" pitchFamily="34" charset="-120"/>
              </a:rPr>
              <a:t>。</a:t>
            </a:r>
          </a:p>
          <a:p>
            <a:endParaRPr lang="zh-CN" altLang="en-US">
              <a:latin typeface="微軟正黑體" panose="020B0604030504040204" pitchFamily="34" charset="-120"/>
            </a:endParaRPr>
          </a:p>
          <a:p>
            <a:r>
              <a:rPr lang="zh-TW" altLang="en-US">
                <a:latin typeface="微軟正黑體" panose="020B0604030504040204" pitchFamily="34" charset="-120"/>
              </a:rPr>
              <a:t>它</a:t>
            </a:r>
            <a:r>
              <a:rPr lang="zh-CN" altLang="en-US">
                <a:latin typeface="微軟正黑體" panose="020B0604030504040204" pitchFamily="34" charset="-120"/>
              </a:rPr>
              <a:t>由普通的直流馬達，再加上偵測馬達旋轉角度的電路，以及一組減速齒輪所構成。</a:t>
            </a:r>
          </a:p>
          <a:p>
            <a:endParaRPr lang="zh-CN" altLang="en-US">
              <a:latin typeface="微軟正黑體" panose="020B0604030504040204" pitchFamily="34" charset="-120"/>
            </a:endParaRPr>
          </a:p>
          <a:p>
            <a:r>
              <a:rPr lang="zh-CN" altLang="en-US">
                <a:latin typeface="微軟正黑體" panose="020B0604030504040204" pitchFamily="34" charset="-120"/>
              </a:rPr>
              <a:t>伺服馬達有三條接線，分別是</a:t>
            </a:r>
            <a:r>
              <a:rPr lang="zh-CN" altLang="en-US" b="1">
                <a:latin typeface="微軟正黑體" panose="020B0604030504040204" pitchFamily="34" charset="-120"/>
              </a:rPr>
              <a:t>正電源</a:t>
            </a:r>
            <a:r>
              <a:rPr lang="zh-CN" altLang="en-US">
                <a:latin typeface="微軟正黑體" panose="020B0604030504040204" pitchFamily="34" charset="-120"/>
              </a:rPr>
              <a:t>、</a:t>
            </a:r>
            <a:r>
              <a:rPr lang="zh-CN" altLang="en-US" b="1">
                <a:latin typeface="微軟正黑體" panose="020B0604030504040204" pitchFamily="34" charset="-120"/>
              </a:rPr>
              <a:t>接地</a:t>
            </a:r>
            <a:r>
              <a:rPr lang="zh-CN" altLang="en-US">
                <a:latin typeface="微軟正黑體" panose="020B0604030504040204" pitchFamily="34" charset="-120"/>
              </a:rPr>
              <a:t>和</a:t>
            </a:r>
            <a:r>
              <a:rPr lang="zh-CN" altLang="en-US" b="1">
                <a:latin typeface="微軟正黑體" panose="020B0604030504040204" pitchFamily="34" charset="-120"/>
              </a:rPr>
              <a:t>控制訊號</a:t>
            </a:r>
            <a:r>
              <a:rPr lang="zh-CN" altLang="en-US">
                <a:latin typeface="微軟正黑體" panose="020B0604030504040204" pitchFamily="34" charset="-120"/>
              </a:rPr>
              <a:t>線</a:t>
            </a:r>
            <a:r>
              <a:rPr lang="zh-TW" altLang="en-US">
                <a:latin typeface="微軟正黑體" panose="020B0604030504040204" pitchFamily="34" charset="-120"/>
              </a:rPr>
              <a:t>。</a:t>
            </a:r>
            <a:endParaRPr lang="zh-CN" altLang="en-US">
              <a:latin typeface="微軟正黑體" panose="020B0604030504040204" pitchFamily="34" charset="-120"/>
            </a:endParaRPr>
          </a:p>
        </p:txBody>
      </p:sp>
      <p:sp>
        <p:nvSpPr>
          <p:cNvPr id="8197" name="Oval 8198">
            <a:extLst>
              <a:ext uri="{FF2B5EF4-FFF2-40B4-BE49-F238E27FC236}">
                <a16:creationId xmlns:a16="http://schemas.microsoft.com/office/drawing/2014/main" id="{B0548417-8CCA-44EF-8455-851A16ECE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8150" y="586422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198" name="Text Box 8199">
            <a:extLst>
              <a:ext uri="{FF2B5EF4-FFF2-40B4-BE49-F238E27FC236}">
                <a16:creationId xmlns:a16="http://schemas.microsoft.com/office/drawing/2014/main" id="{8AF7EDE0-62B1-4E22-A165-62215CF0F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224" y="6008688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-2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8199" name="Picture 1" descr="s1">
            <a:extLst>
              <a:ext uri="{FF2B5EF4-FFF2-40B4-BE49-F238E27FC236}">
                <a16:creationId xmlns:a16="http://schemas.microsoft.com/office/drawing/2014/main" id="{AEA74882-55D6-46F5-9BDD-4272F619C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806575"/>
            <a:ext cx="33782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9217">
            <a:extLst>
              <a:ext uri="{FF2B5EF4-FFF2-40B4-BE49-F238E27FC236}">
                <a16:creationId xmlns:a16="http://schemas.microsoft.com/office/drawing/2014/main" id="{B531161C-8EF3-4A79-9866-6AB6AE074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控制伺服馬達的PWM訊號</a:t>
            </a:r>
            <a:endParaRPr lang="en-US" altLang="en-US" dirty="0"/>
          </a:p>
        </p:txBody>
      </p:sp>
      <p:sp>
        <p:nvSpPr>
          <p:cNvPr id="9218" name="Text Box 9219">
            <a:extLst>
              <a:ext uri="{FF2B5EF4-FFF2-40B4-BE49-F238E27FC236}">
                <a16:creationId xmlns:a16="http://schemas.microsoft.com/office/drawing/2014/main" id="{CFDCBFEC-31A3-4519-AC9C-F88445B13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1" y="1484313"/>
            <a:ext cx="63366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zh-CN" altLang="zh-TW" sz="1400" dirty="0"/>
              <a:t>伺服</a:t>
            </a:r>
            <a:r>
              <a:rPr lang="zh-TW" altLang="zh-TW" sz="1400" dirty="0"/>
              <a:t>馬達</a:t>
            </a:r>
            <a:r>
              <a:rPr lang="zh-CN" altLang="zh-TW" sz="1400" dirty="0"/>
              <a:t>的</a:t>
            </a:r>
            <a:r>
              <a:rPr lang="en-US" altLang="zh-TW" sz="1400" dirty="0"/>
              <a:t>PWM</a:t>
            </a:r>
            <a:r>
              <a:rPr lang="zh-TW" altLang="zh-TW" sz="1400" dirty="0"/>
              <a:t>訊號</a:t>
            </a:r>
            <a:r>
              <a:rPr lang="zh-CN" altLang="zh-TW" sz="1400" dirty="0"/>
              <a:t>週期約</a:t>
            </a:r>
            <a:r>
              <a:rPr lang="en-US" altLang="zh-TW" sz="1400" dirty="0"/>
              <a:t>20ms</a:t>
            </a:r>
            <a:r>
              <a:rPr lang="zh-CN" altLang="zh-TW" sz="1400" dirty="0"/>
              <a:t>，而一個指令週期裡的前</a:t>
            </a:r>
            <a:r>
              <a:rPr lang="en-US" altLang="zh-TW" sz="1400" dirty="0"/>
              <a:t>1~2ms</a:t>
            </a:r>
            <a:r>
              <a:rPr lang="zh-CN" altLang="zh-TW" sz="1400" dirty="0"/>
              <a:t>脈衝寬度</a:t>
            </a:r>
            <a:r>
              <a:rPr lang="zh-TW" altLang="zh-TW" sz="1400" dirty="0"/>
              <a:t>（實際值依伺服馬達型號而定，需查閱規格書）</a:t>
            </a:r>
            <a:r>
              <a:rPr lang="zh-CN" altLang="zh-TW" sz="1400" dirty="0"/>
              <a:t>，代表轉動角度。</a:t>
            </a:r>
            <a:endParaRPr lang="en-US" altLang="en-US" sz="1400" dirty="0"/>
          </a:p>
        </p:txBody>
      </p:sp>
      <p:sp>
        <p:nvSpPr>
          <p:cNvPr id="9219" name="Oval 9220">
            <a:extLst>
              <a:ext uri="{FF2B5EF4-FFF2-40B4-BE49-F238E27FC236}">
                <a16:creationId xmlns:a16="http://schemas.microsoft.com/office/drawing/2014/main" id="{CEAF764D-5AEF-450F-BEDC-D0261651E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345889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0" name="Text Box 9221">
            <a:extLst>
              <a:ext uri="{FF2B5EF4-FFF2-40B4-BE49-F238E27FC236}">
                <a16:creationId xmlns:a16="http://schemas.microsoft.com/office/drawing/2014/main" id="{4E7DA654-CFAC-4571-B320-51E50074E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148" y="3603361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-4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pic>
        <p:nvPicPr>
          <p:cNvPr id="9221" name="Picture 1" descr="s5">
            <a:extLst>
              <a:ext uri="{FF2B5EF4-FFF2-40B4-BE49-F238E27FC236}">
                <a16:creationId xmlns:a16="http://schemas.microsoft.com/office/drawing/2014/main" id="{155B133E-E6F7-4953-A59A-5365B4AF8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663" y="4909153"/>
            <a:ext cx="441325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2" descr="s5_2">
            <a:extLst>
              <a:ext uri="{FF2B5EF4-FFF2-40B4-BE49-F238E27FC236}">
                <a16:creationId xmlns:a16="http://schemas.microsoft.com/office/drawing/2014/main" id="{6819B0E9-7E82-4F19-B58C-F847837A7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47" y="2288911"/>
            <a:ext cx="48641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3" descr="s5_1">
            <a:extLst>
              <a:ext uri="{FF2B5EF4-FFF2-40B4-BE49-F238E27FC236}">
                <a16:creationId xmlns:a16="http://schemas.microsoft.com/office/drawing/2014/main" id="{57D330B0-E225-41BB-94C7-BBB951265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05064"/>
            <a:ext cx="10096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25E0059-33E0-42E3-9775-46937226C804}"/>
              </a:ext>
            </a:extLst>
          </p:cNvPr>
          <p:cNvSpPr/>
          <p:nvPr/>
        </p:nvSpPr>
        <p:spPr>
          <a:xfrm>
            <a:off x="539552" y="4965908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SG90</a:t>
            </a: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微型伺服馬達</a:t>
            </a:r>
            <a:r>
              <a:rPr lang="zh-TW" altLang="en-US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的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主要參數：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操作電壓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4.2~6V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消耗電流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80mA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操作速度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0.12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秒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/60°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PWM</a:t>
            </a: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脈衝寬度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0.5~2.4ms</a:t>
            </a:r>
            <a:endParaRPr lang="zh-TW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堵轉扭力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（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stall torque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）：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1.80 kg-cm</a:t>
            </a:r>
            <a:endParaRPr lang="en-US" altLang="zh-TW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b="1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死區頻寬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dead bandwidth</a:t>
            </a:r>
            <a:r>
              <a:rPr lang="zh-CN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）：</a:t>
            </a:r>
            <a:r>
              <a:rPr lang="en-US" altLang="zh-TW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10µs</a:t>
            </a:r>
            <a:endParaRPr lang="zh-TW" altLang="en-US" sz="1400" dirty="0"/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EC32F0-AAD3-47A7-82BB-A136368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控制伺服馬達的</a:t>
            </a:r>
            <a:r>
              <a:rPr lang="en-US" altLang="zh-TW" dirty="0"/>
              <a:t>Servo</a:t>
            </a:r>
            <a:r>
              <a:rPr lang="zh-TW" altLang="zh-TW" dirty="0"/>
              <a:t>類別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FB14AB-5912-46BD-B830-CA2B7BC9C3E5}"/>
              </a:ext>
            </a:extLst>
          </p:cNvPr>
          <p:cNvSpPr/>
          <p:nvPr/>
        </p:nvSpPr>
        <p:spPr>
          <a:xfrm>
            <a:off x="1259632" y="1645616"/>
            <a:ext cx="63904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600" dirty="0"/>
              <a:t>Servo</a:t>
            </a:r>
            <a:r>
              <a:rPr lang="zh-TW" altLang="zh-TW" sz="1600" dirty="0"/>
              <a:t>類別最常用的兩個方法：</a:t>
            </a:r>
          </a:p>
          <a:p>
            <a:pPr algn="just">
              <a:spcAft>
                <a:spcPts val="0"/>
              </a:spcAft>
            </a:pPr>
            <a:r>
              <a:rPr lang="en-US" altLang="zh-TW" sz="1600" dirty="0"/>
              <a:t> </a:t>
            </a:r>
            <a:endParaRPr lang="zh-TW" altLang="zh-TW" sz="1600" dirty="0"/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600" dirty="0"/>
              <a:t>attach()</a:t>
            </a:r>
            <a:r>
              <a:rPr lang="zh-TW" altLang="zh-TW" sz="1600" dirty="0"/>
              <a:t>：設定伺服馬達的接腳、最小脈衝和最大脈衝。</a:t>
            </a: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600" dirty="0"/>
              <a:t>write()</a:t>
            </a:r>
            <a:r>
              <a:rPr lang="zh-TW" altLang="zh-TW" sz="1600" dirty="0"/>
              <a:t>：設定伺服馬達的旋轉角度</a:t>
            </a:r>
            <a:r>
              <a:rPr lang="en-US" altLang="zh-TW" sz="1600" dirty="0"/>
              <a:t>0~180</a:t>
            </a:r>
            <a:r>
              <a:rPr lang="zh-TW" altLang="zh-TW" sz="1600" dirty="0"/>
              <a:t>，</a:t>
            </a:r>
            <a:r>
              <a:rPr lang="en-US" altLang="zh-TW" sz="1600" dirty="0"/>
              <a:t>90</a:t>
            </a:r>
            <a:r>
              <a:rPr lang="zh-TW" altLang="zh-TW" sz="1600" dirty="0"/>
              <a:t>將轉到中間。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80AE0F9-C11A-4D27-AF00-4F9E2374B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83" y="3933056"/>
            <a:ext cx="6177857" cy="138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66F43DF-E411-4076-A75B-2BC6E5165389}"/>
              </a:ext>
            </a:extLst>
          </p:cNvPr>
          <p:cNvSpPr/>
          <p:nvPr/>
        </p:nvSpPr>
        <p:spPr>
          <a:xfrm>
            <a:off x="1259632" y="3259723"/>
            <a:ext cx="40831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1600" dirty="0"/>
              <a:t>控制伺服馬達的程式都包含下列四行敘述</a:t>
            </a:r>
            <a:r>
              <a:rPr lang="zh-TW" altLang="en-US" sz="1600" dirty="0"/>
              <a:t>：</a:t>
            </a:r>
          </a:p>
        </p:txBody>
      </p:sp>
      <p:sp>
        <p:nvSpPr>
          <p:cNvPr id="6" name="Oval 9220">
            <a:extLst>
              <a:ext uri="{FF2B5EF4-FFF2-40B4-BE49-F238E27FC236}">
                <a16:creationId xmlns:a16="http://schemas.microsoft.com/office/drawing/2014/main" id="{4433A49D-5A95-4F9E-AE6D-82E058C9E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5445224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9221">
            <a:extLst>
              <a:ext uri="{FF2B5EF4-FFF2-40B4-BE49-F238E27FC236}">
                <a16:creationId xmlns:a16="http://schemas.microsoft.com/office/drawing/2014/main" id="{3871107A-74C8-4422-B2EE-0B4A61378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148" y="5589687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5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2891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0241">
            <a:extLst>
              <a:ext uri="{FF2B5EF4-FFF2-40B4-BE49-F238E27FC236}">
                <a16:creationId xmlns:a16="http://schemas.microsoft.com/office/drawing/2014/main" id="{243DEA80-5974-4FD5-B3E0-8F376FB46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吃錢幣存錢筒</a:t>
            </a:r>
            <a:r>
              <a:rPr lang="zh-TW" altLang="en-US" dirty="0"/>
              <a:t>（一）</a:t>
            </a:r>
            <a:endParaRPr lang="zh-CN" altLang="en-US" dirty="0"/>
          </a:p>
        </p:txBody>
      </p:sp>
      <p:sp>
        <p:nvSpPr>
          <p:cNvPr id="10244" name="Oval 10244">
            <a:extLst>
              <a:ext uri="{FF2B5EF4-FFF2-40B4-BE49-F238E27FC236}">
                <a16:creationId xmlns:a16="http://schemas.microsoft.com/office/drawing/2014/main" id="{052DADA3-157C-4980-9355-ABD9B493B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295" y="38604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245" name="Text Box 10245">
            <a:extLst>
              <a:ext uri="{FF2B5EF4-FFF2-40B4-BE49-F238E27FC236}">
                <a16:creationId xmlns:a16="http://schemas.microsoft.com/office/drawing/2014/main" id="{3D0140D7-2FD8-4C8F-8FA6-1025235D3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368" y="4004913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080F04-9F21-451D-9869-B4F5F7BF0110}"/>
              </a:ext>
            </a:extLst>
          </p:cNvPr>
          <p:cNvSpPr/>
          <p:nvPr/>
        </p:nvSpPr>
        <p:spPr>
          <a:xfrm>
            <a:off x="1259632" y="1562000"/>
            <a:ext cx="62646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600" dirty="0"/>
              <a:t>使用伺服馬達以及一個微觸開關，來模擬吃硬幣存錢筒的機構。</a:t>
            </a:r>
            <a:endParaRPr lang="zh-TW" altLang="en-US" sz="1600" dirty="0"/>
          </a:p>
        </p:txBody>
      </p:sp>
      <p:pic>
        <p:nvPicPr>
          <p:cNvPr id="2050" name="Picture 2" descr="sw3">
            <a:extLst>
              <a:ext uri="{FF2B5EF4-FFF2-40B4-BE49-F238E27FC236}">
                <a16:creationId xmlns:a16="http://schemas.microsoft.com/office/drawing/2014/main" id="{0964752C-1234-4C83-9129-8E345BCA2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189" y="2217954"/>
            <a:ext cx="50768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76B9F98-F8D2-46CC-944A-E2E02C519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38" y="4651244"/>
            <a:ext cx="524827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FB2837-3FC0-4263-A7D8-A7E4B5AF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吃錢幣存錢筒</a:t>
            </a:r>
            <a:r>
              <a:rPr lang="zh-TW" altLang="en-US" dirty="0"/>
              <a:t>（二）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C0981C-401F-45ED-891A-8375032F7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45" y="1916832"/>
            <a:ext cx="3024336" cy="297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E94D328-0C45-4BEB-8FAE-E301D177A94A}"/>
              </a:ext>
            </a:extLst>
          </p:cNvPr>
          <p:cNvSpPr/>
          <p:nvPr/>
        </p:nvSpPr>
        <p:spPr>
          <a:xfrm>
            <a:off x="4392613" y="1704791"/>
            <a:ext cx="4572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#include &lt;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Servo.h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&gt;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#define SW_PIN 7      // </a:t>
            </a:r>
            <a:r>
              <a:rPr lang="zh-TW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開關接腳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#define SERVO_PIN 8   // </a:t>
            </a:r>
            <a:r>
              <a:rPr lang="zh-TW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伺服馬達接腳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;   // </a:t>
            </a:r>
            <a:r>
              <a:rPr lang="zh-TW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宣告伺服馬達物件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void setup() {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pinMode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(SW_PIN, INPUT_PULLUP);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servo.attach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(SERVO_PIN, 500, 2400); 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servo.write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(90);}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void loop() {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bool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sw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=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digitalRead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(SW_PIN);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if (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sw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== 0) {</a:t>
            </a: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servo.write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(150);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delay(2000);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servo.write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(90);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delay(1000);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}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}</a:t>
            </a:r>
            <a:endParaRPr lang="zh-TW" altLang="zh-TW" sz="1400" kern="100" dirty="0">
              <a:effectLst/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Oval 10244">
            <a:extLst>
              <a:ext uri="{FF2B5EF4-FFF2-40B4-BE49-F238E27FC236}">
                <a16:creationId xmlns:a16="http://schemas.microsoft.com/office/drawing/2014/main" id="{E2BA6842-4D40-4E92-A120-DB7DCBB44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566124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0245">
            <a:extLst>
              <a:ext uri="{FF2B5EF4-FFF2-40B4-BE49-F238E27FC236}">
                <a16:creationId xmlns:a16="http://schemas.microsoft.com/office/drawing/2014/main" id="{7BCAC950-133A-47ED-ACAC-2B97FCEE3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625" y="5805711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04324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B4F3D-08F8-494C-B55B-B29D604F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自製伺服馬達雲台</a:t>
            </a:r>
            <a:r>
              <a:rPr lang="zh-TW" altLang="en-US" dirty="0"/>
              <a:t>（一）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2A0A8E-4CDF-46B8-AD01-559BFFC524B7}"/>
              </a:ext>
            </a:extLst>
          </p:cNvPr>
          <p:cNvSpPr/>
          <p:nvPr/>
        </p:nvSpPr>
        <p:spPr>
          <a:xfrm>
            <a:off x="251520" y="2041078"/>
            <a:ext cx="27363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1400" dirty="0"/>
              <a:t>可</a:t>
            </a:r>
            <a:r>
              <a:rPr lang="zh-TW" altLang="zh-TW" sz="1400" dirty="0"/>
              <a:t>購買現成的</a:t>
            </a:r>
            <a:r>
              <a:rPr lang="zh-CN" altLang="zh-TW" sz="1400" dirty="0"/>
              <a:t>微型伺服馬達的雲台（</a:t>
            </a:r>
            <a:r>
              <a:rPr lang="zh-TW" altLang="zh-TW" sz="1400" dirty="0"/>
              <a:t>搜尋關鍵字：</a:t>
            </a:r>
            <a:r>
              <a:rPr lang="zh-TW" altLang="zh-TW" sz="1400" b="1" dirty="0"/>
              <a:t>舵機雲台</a:t>
            </a:r>
            <a:r>
              <a:rPr lang="zh-CN" altLang="zh-TW" sz="1400" dirty="0"/>
              <a:t>）</a:t>
            </a:r>
            <a:r>
              <a:rPr lang="zh-TW" altLang="zh-TW" sz="1400" dirty="0"/>
              <a:t>。</a:t>
            </a:r>
            <a:r>
              <a:rPr lang="zh-TW" altLang="en-US" sz="1400" dirty="0"/>
              <a:t>右</a:t>
            </a:r>
            <a:r>
              <a:rPr lang="zh-CN" altLang="zh-TW" sz="1400" dirty="0"/>
              <a:t>圖</a:t>
            </a:r>
            <a:r>
              <a:rPr lang="zh-TW" altLang="zh-TW" sz="1400" dirty="0"/>
              <a:t>是從</a:t>
            </a:r>
            <a:r>
              <a:rPr lang="zh-CN" altLang="zh-TW" sz="1400" dirty="0"/>
              <a:t>塑膠空盒</a:t>
            </a:r>
            <a:r>
              <a:rPr lang="en-US" altLang="zh-TW" sz="1400" dirty="0"/>
              <a:t> </a:t>
            </a:r>
            <a:r>
              <a:rPr lang="zh-CN" altLang="zh-TW" sz="1400" dirty="0"/>
              <a:t>裁切兩塊塑膠，組裝</a:t>
            </a:r>
            <a:r>
              <a:rPr lang="zh-TW" altLang="zh-TW" sz="1400" dirty="0"/>
              <a:t>成的</a:t>
            </a:r>
            <a:r>
              <a:rPr lang="zh-CN" altLang="zh-TW" sz="1400" dirty="0"/>
              <a:t>雲台</a:t>
            </a:r>
            <a:r>
              <a:rPr lang="zh-TW" altLang="en-US" sz="1400" dirty="0"/>
              <a:t>。</a:t>
            </a:r>
            <a:endParaRPr lang="zh-TW" altLang="zh-TW" sz="1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6B0DF2C-A674-4CEE-A306-1DA33E8F4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555" y="1700808"/>
            <a:ext cx="549592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1A991179-42C3-4A08-B1A5-156EDC3AB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606" y="4735649"/>
            <a:ext cx="52101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8A3BD93-079F-461D-AE6E-098F8CE3AC83}"/>
              </a:ext>
            </a:extLst>
          </p:cNvPr>
          <p:cNvSpPr/>
          <p:nvPr/>
        </p:nvSpPr>
        <p:spPr>
          <a:xfrm>
            <a:off x="251520" y="4736444"/>
            <a:ext cx="29523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採用的電玩類比搖桿來控制自製機械手臂；若沒有類比搖桿，可用兩個</a:t>
            </a:r>
            <a:r>
              <a:rPr lang="en-US" altLang="zh-TW" sz="1400" dirty="0"/>
              <a:t>10K</a:t>
            </a:r>
            <a:r>
              <a:rPr lang="zh-TW" altLang="zh-TW" sz="1400" dirty="0"/>
              <a:t>Ω可變電阻代替。</a:t>
            </a:r>
            <a:endParaRPr lang="zh-TW" altLang="en-US" sz="1400" dirty="0"/>
          </a:p>
        </p:txBody>
      </p:sp>
      <p:sp>
        <p:nvSpPr>
          <p:cNvPr id="7" name="Oval 10244">
            <a:extLst>
              <a:ext uri="{FF2B5EF4-FFF2-40B4-BE49-F238E27FC236}">
                <a16:creationId xmlns:a16="http://schemas.microsoft.com/office/drawing/2014/main" id="{C6F3072E-E2E7-4B7E-9999-1214B529D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469283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5">
            <a:extLst>
              <a:ext uri="{FF2B5EF4-FFF2-40B4-BE49-F238E27FC236}">
                <a16:creationId xmlns:a16="http://schemas.microsoft.com/office/drawing/2014/main" id="{EAE17989-D186-4A3C-91AD-48888AE4E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609" y="3613746"/>
            <a:ext cx="699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6577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7AC2D-929D-4715-A925-0D611382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自製伺服馬達雲台</a:t>
            </a:r>
            <a:r>
              <a:rPr lang="zh-TW" altLang="en-US" dirty="0"/>
              <a:t>（二）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3201C50-517A-4A48-AFBF-0656AA204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762617"/>
            <a:ext cx="47434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DB444C-DF67-4300-B9CB-5DA10C6037E6}"/>
              </a:ext>
            </a:extLst>
          </p:cNvPr>
          <p:cNvSpPr/>
          <p:nvPr/>
        </p:nvSpPr>
        <p:spPr>
          <a:xfrm>
            <a:off x="755576" y="1628800"/>
            <a:ext cx="417646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&lt;Servo.h&gt;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Servo servoX, servoY;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   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const byte pinX = A0;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const byte pinY = A1;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valX, posX;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valY, posY;</a:t>
            </a:r>
          </a:p>
          <a:p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void setup() {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servoX.attach(5, 500, 2400); </a:t>
            </a:r>
            <a:endParaRPr lang="en-US" altLang="zh-TW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servoY.attach(6, 500, 2400);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void loop() {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valX = analogRead(pinX);</a:t>
            </a:r>
            <a:endParaRPr lang="en-US" altLang="zh-TW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valY = analogRead(pinY);   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posX = map(valX, 0, 1023, 0, 180);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posY = map(valY, 0, 1023, 0, 180);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servoX.write(posX);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servoY.write(posY); </a:t>
            </a: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  delay(15)</a:t>
            </a:r>
            <a:r>
              <a:rPr lang="en-US" altLang="zh-TW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zh-TW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Oval 10244">
            <a:extLst>
              <a:ext uri="{FF2B5EF4-FFF2-40B4-BE49-F238E27FC236}">
                <a16:creationId xmlns:a16="http://schemas.microsoft.com/office/drawing/2014/main" id="{0B868D23-5F2E-4D45-8677-7943551F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295" y="38604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10245">
            <a:extLst>
              <a:ext uri="{FF2B5EF4-FFF2-40B4-BE49-F238E27FC236}">
                <a16:creationId xmlns:a16="http://schemas.microsoft.com/office/drawing/2014/main" id="{C2A2E797-7E05-4810-A3D8-274E23511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439" y="4004913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84133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93A98-FC49-498D-84E6-8D258509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簡易數位濾波以及</a:t>
            </a:r>
            <a:br>
              <a:rPr lang="en-US" altLang="zh-CN" dirty="0"/>
            </a:br>
            <a:r>
              <a:rPr lang="zh-CN" altLang="zh-TW" dirty="0"/>
              <a:t>資料排序演算法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201B7A-FD04-4B4C-B458-95BD5349FE38}"/>
              </a:ext>
            </a:extLst>
          </p:cNvPr>
          <p:cNvSpPr/>
          <p:nvPr/>
        </p:nvSpPr>
        <p:spPr>
          <a:xfrm>
            <a:off x="1331640" y="1628800"/>
            <a:ext cx="59766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/>
              <a:t>從原始訊號中篩選出某一部份訊號，稱為濾波。</a:t>
            </a:r>
            <a:r>
              <a:rPr lang="zh-TW" altLang="en-US" sz="1400" dirty="0"/>
              <a:t>取</a:t>
            </a:r>
            <a:r>
              <a:rPr lang="zh-TW" altLang="en-US" sz="1400" b="1" dirty="0"/>
              <a:t>平均值（</a:t>
            </a:r>
            <a:r>
              <a:rPr lang="en-US" altLang="zh-TW" sz="1400" b="1" dirty="0"/>
              <a:t>average</a:t>
            </a:r>
            <a:r>
              <a:rPr lang="zh-TW" altLang="en-US" sz="1400" b="1" dirty="0"/>
              <a:t>）</a:t>
            </a:r>
            <a:r>
              <a:rPr lang="zh-TW" altLang="en-US" sz="1400" dirty="0"/>
              <a:t>和取</a:t>
            </a:r>
            <a:r>
              <a:rPr lang="zh-TW" altLang="en-US" sz="1400" b="1" dirty="0"/>
              <a:t>中數值（</a:t>
            </a:r>
            <a:r>
              <a:rPr lang="en-US" altLang="zh-TW" sz="1400" b="1" dirty="0"/>
              <a:t>median</a:t>
            </a:r>
            <a:r>
              <a:rPr lang="zh-TW" altLang="en-US" sz="1400" b="1" dirty="0"/>
              <a:t>）</a:t>
            </a:r>
            <a:r>
              <a:rPr lang="zh-TW" altLang="en-US" sz="1400" dirty="0"/>
              <a:t>是兩種常見的簡易數位濾波方式。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en-US" sz="1400" dirty="0"/>
              <a:t>平均值代表將連續讀入的幾個訊號加總、平均；中數值代表將連續讀入訊號排序之後，取出中間值。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4960828-1D92-4059-B757-35316FF3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284984"/>
            <a:ext cx="44100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45B14F74-87FB-460E-983D-FD12DD1B3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670" y="5445224"/>
            <a:ext cx="435292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10244">
            <a:extLst>
              <a:ext uri="{FF2B5EF4-FFF2-40B4-BE49-F238E27FC236}">
                <a16:creationId xmlns:a16="http://schemas.microsoft.com/office/drawing/2014/main" id="{98A9D15C-8E08-4EE8-8917-F41F7BA87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295" y="38604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10245">
            <a:extLst>
              <a:ext uri="{FF2B5EF4-FFF2-40B4-BE49-F238E27FC236}">
                <a16:creationId xmlns:a16="http://schemas.microsoft.com/office/drawing/2014/main" id="{1EB17A55-EB35-4FF1-8F62-2A1B0A2EB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439" y="4004913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44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6D35F-FDF5-49D9-9F31-4BA6E5A0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氣泡排序原理與實作</a:t>
            </a:r>
            <a:r>
              <a:rPr lang="zh-TW" altLang="en-US" dirty="0"/>
              <a:t>（一）</a:t>
            </a:r>
          </a:p>
        </p:txBody>
      </p:sp>
      <p:pic>
        <p:nvPicPr>
          <p:cNvPr id="7170" name="圖片 10">
            <a:extLst>
              <a:ext uri="{FF2B5EF4-FFF2-40B4-BE49-F238E27FC236}">
                <a16:creationId xmlns:a16="http://schemas.microsoft.com/office/drawing/2014/main" id="{10FB6D64-2FCF-4B6C-AD90-692AAA226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121" y="2852936"/>
            <a:ext cx="3152775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E587A37-2421-41CA-89ED-A04BEAC22348}"/>
              </a:ext>
            </a:extLst>
          </p:cNvPr>
          <p:cNvSpPr/>
          <p:nvPr/>
        </p:nvSpPr>
        <p:spPr>
          <a:xfrm>
            <a:off x="2051720" y="1463992"/>
            <a:ext cx="58143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TW" sz="1400" dirty="0"/>
              <a:t>氣泡排序</a:t>
            </a:r>
            <a:r>
              <a:rPr lang="zh-TW" altLang="en-US" sz="1400" dirty="0"/>
              <a:t>的</a:t>
            </a:r>
            <a:r>
              <a:rPr lang="zh-TW" altLang="zh-TW" sz="1400" dirty="0"/>
              <a:t>排序步驟如下：</a:t>
            </a:r>
          </a:p>
          <a:p>
            <a:pPr algn="just">
              <a:spcAft>
                <a:spcPts val="0"/>
              </a:spcAft>
            </a:pPr>
            <a:r>
              <a:rPr lang="en-US" altLang="zh-TW" sz="1400" dirty="0"/>
              <a:t> 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zh-TW" altLang="zh-TW" sz="1400" dirty="0"/>
              <a:t>比較相鄰的兩個元素，若後面的元素比較大就進行交換。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zh-TW" altLang="zh-TW" sz="1400" dirty="0"/>
              <a:t>重複步驟</a:t>
            </a:r>
            <a:r>
              <a:rPr lang="en-US" altLang="zh-TW" sz="1400" dirty="0"/>
              <a:t>1</a:t>
            </a:r>
            <a:r>
              <a:rPr lang="zh-TW" altLang="zh-TW" sz="1400" dirty="0"/>
              <a:t>直到最後，最後一個元素將會是最小值</a:t>
            </a:r>
            <a:r>
              <a:rPr lang="en-US" altLang="zh-TW" sz="1400" dirty="0"/>
              <a:t> </a:t>
            </a:r>
            <a:r>
              <a:rPr lang="zh-TW" altLang="zh-TW" sz="1400" dirty="0"/>
              <a:t>。</a:t>
            </a:r>
            <a:endParaRPr lang="en-US" altLang="zh-TW" sz="14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zh-CN" altLang="zh-TW" sz="1400" dirty="0"/>
              <a:t>重複步驟</a:t>
            </a:r>
            <a:r>
              <a:rPr lang="en-US" altLang="zh-TW" sz="1400" dirty="0"/>
              <a:t>1</a:t>
            </a:r>
            <a:r>
              <a:rPr lang="zh-CN" altLang="zh-TW" sz="1400" dirty="0"/>
              <a:t>和</a:t>
            </a:r>
            <a:r>
              <a:rPr lang="en-US" altLang="zh-TW" sz="1400" dirty="0"/>
              <a:t>2</a:t>
            </a:r>
            <a:r>
              <a:rPr lang="zh-CN" altLang="zh-TW" sz="1400" dirty="0"/>
              <a:t>，每次都比較到上一輪的最後一個元素</a:t>
            </a:r>
            <a:endParaRPr lang="zh-TW" altLang="zh-TW" sz="1400" dirty="0"/>
          </a:p>
        </p:txBody>
      </p:sp>
      <p:sp>
        <p:nvSpPr>
          <p:cNvPr id="5" name="Oval 10244">
            <a:extLst>
              <a:ext uri="{FF2B5EF4-FFF2-40B4-BE49-F238E27FC236}">
                <a16:creationId xmlns:a16="http://schemas.microsoft.com/office/drawing/2014/main" id="{8578D178-579B-4519-A91E-38F01056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295" y="3860450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0245">
            <a:extLst>
              <a:ext uri="{FF2B5EF4-FFF2-40B4-BE49-F238E27FC236}">
                <a16:creationId xmlns:a16="http://schemas.microsoft.com/office/drawing/2014/main" id="{BB4D4F26-234F-4A53-92A0-D3C7B1BA6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439" y="4004913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44801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BFF42A-AD7B-42CD-8119-262FD622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氣泡排序原理與實作</a:t>
            </a:r>
            <a:r>
              <a:rPr lang="zh-TW" altLang="en-US" dirty="0"/>
              <a:t>（二）</a:t>
            </a:r>
          </a:p>
        </p:txBody>
      </p:sp>
      <p:pic>
        <p:nvPicPr>
          <p:cNvPr id="8194" name="圖片 13">
            <a:extLst>
              <a:ext uri="{FF2B5EF4-FFF2-40B4-BE49-F238E27FC236}">
                <a16:creationId xmlns:a16="http://schemas.microsoft.com/office/drawing/2014/main" id="{28898B59-027B-42E8-9C28-8327EF8C6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098925"/>
            <a:ext cx="527685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3DF59BE-FF2A-4AE1-A0AC-C23EA0A04713}"/>
              </a:ext>
            </a:extLst>
          </p:cNvPr>
          <p:cNvSpPr/>
          <p:nvPr/>
        </p:nvSpPr>
        <p:spPr>
          <a:xfrm>
            <a:off x="179512" y="1628507"/>
            <a:ext cx="7632848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int data[] = { 6, 5, 3, 2, 7, 4, 8, 10, 9, 1 }; 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void setup(){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Serial.begin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(9600);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byte size =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sizeof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(data) /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sizeof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(int);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Serial.print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("Array Size: ");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Serial.println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(size);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bubble_sort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(data, size);  // </a:t>
            </a:r>
            <a:r>
              <a:rPr lang="zh-CN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執行氣泡排序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Serial.print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("Sorted Array: ");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for(byte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=0;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&lt;size;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++) {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Serial.print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(data[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i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]); 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 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Serial.print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(",");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}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 </a:t>
            </a:r>
            <a:r>
              <a:rPr lang="en-US" altLang="zh-TW" sz="1400" kern="100" dirty="0" err="1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Serial.println</a:t>
            </a: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("");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}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 </a:t>
            </a:r>
            <a:endParaRPr lang="zh-TW" altLang="zh-TW" sz="1400" kern="100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1400" kern="100" dirty="0"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void loop() { }</a:t>
            </a:r>
            <a:endParaRPr lang="zh-TW" altLang="zh-TW" sz="1400" kern="100" dirty="0">
              <a:effectLst/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Oval 10244">
            <a:extLst>
              <a:ext uri="{FF2B5EF4-FFF2-40B4-BE49-F238E27FC236}">
                <a16:creationId xmlns:a16="http://schemas.microsoft.com/office/drawing/2014/main" id="{670257B1-69DB-4F01-8033-4BD6ACC57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295" y="2132856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0245">
            <a:extLst>
              <a:ext uri="{FF2B5EF4-FFF2-40B4-BE49-F238E27FC236}">
                <a16:creationId xmlns:a16="http://schemas.microsoft.com/office/drawing/2014/main" id="{83724612-4523-425C-ADA3-44825D8BF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439" y="2277319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648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442B8-63D9-44B3-89B0-DB540706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快速排序原理與實作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381867-6923-4449-9F01-CCCC09DA8A21}"/>
              </a:ext>
            </a:extLst>
          </p:cNvPr>
          <p:cNvSpPr/>
          <p:nvPr/>
        </p:nvSpPr>
        <p:spPr>
          <a:xfrm>
            <a:off x="251520" y="1772816"/>
            <a:ext cx="3312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/>
              <a:t>快速排序法採用分割與擊破的手法，首先從原始資料隨機挑選一個數字，</a:t>
            </a:r>
            <a:r>
              <a:rPr lang="zh-TW" altLang="en-US" sz="1400" dirty="0"/>
              <a:t>右圖</a:t>
            </a:r>
            <a:r>
              <a:rPr lang="zh-CN" altLang="zh-TW" sz="1400" dirty="0"/>
              <a:t>的說明都是挑選最後面的數字；這個數字稱為</a:t>
            </a:r>
            <a:r>
              <a:rPr lang="zh-CN" altLang="zh-TW" sz="1400" b="1" dirty="0"/>
              <a:t>基準值（</a:t>
            </a:r>
            <a:r>
              <a:rPr lang="en-US" altLang="zh-TW" sz="1400" b="1" dirty="0"/>
              <a:t>pivot</a:t>
            </a:r>
            <a:r>
              <a:rPr lang="zh-CN" altLang="zh-TW" sz="1400" b="1" dirty="0"/>
              <a:t>）</a:t>
            </a:r>
            <a:r>
              <a:rPr lang="zh-CN" altLang="zh-TW" sz="1400" dirty="0"/>
              <a:t>。</a:t>
            </a:r>
            <a:endParaRPr lang="zh-TW" altLang="en-US" sz="1400" dirty="0"/>
          </a:p>
        </p:txBody>
      </p:sp>
      <p:pic>
        <p:nvPicPr>
          <p:cNvPr id="9218" name="圖片 14">
            <a:extLst>
              <a:ext uri="{FF2B5EF4-FFF2-40B4-BE49-F238E27FC236}">
                <a16:creationId xmlns:a16="http://schemas.microsoft.com/office/drawing/2014/main" id="{9010B58D-E9F3-42C3-A7D5-15D3749E3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150" y="1552575"/>
            <a:ext cx="52768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AF50FA7-74F5-411C-8BF1-18D6ADA6F4CD}"/>
              </a:ext>
            </a:extLst>
          </p:cNvPr>
          <p:cNvSpPr/>
          <p:nvPr/>
        </p:nvSpPr>
        <p:spPr>
          <a:xfrm>
            <a:off x="287301" y="3649439"/>
            <a:ext cx="38164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C</a:t>
            </a:r>
            <a:r>
              <a:rPr lang="zh-CN" altLang="zh-TW" sz="1400" dirty="0"/>
              <a:t>語言內建快速排序法的函式，叫做</a:t>
            </a:r>
            <a:r>
              <a:rPr lang="en-US" altLang="zh-TW" sz="1400" dirty="0" err="1"/>
              <a:t>qsort</a:t>
            </a:r>
            <a:r>
              <a:rPr lang="en-US" altLang="zh-TW" sz="1400" dirty="0"/>
              <a:t>()</a:t>
            </a:r>
            <a:r>
              <a:rPr lang="zh-TW" altLang="zh-TW" sz="1400" dirty="0"/>
              <a:t>：</a:t>
            </a:r>
            <a:endParaRPr lang="zh-TW" altLang="en-US" sz="1400" dirty="0"/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4D6272B2-E27C-4D3E-829D-16C50A5DF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244" y="4177655"/>
            <a:ext cx="5221200" cy="30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E31E908-6516-4EC8-8BC0-AD9FCDEC7CC3}"/>
              </a:ext>
            </a:extLst>
          </p:cNvPr>
          <p:cNvSpPr/>
          <p:nvPr/>
        </p:nvSpPr>
        <p:spPr>
          <a:xfrm>
            <a:off x="395536" y="480859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TW" sz="1400" dirty="0"/>
              <a:t>設定</a:t>
            </a:r>
            <a:r>
              <a:rPr lang="en-US" altLang="zh-TW" sz="1400" dirty="0" err="1"/>
              <a:t>qsort</a:t>
            </a:r>
            <a:r>
              <a:rPr lang="en-US" altLang="zh-TW" sz="1400" dirty="0"/>
              <a:t>()</a:t>
            </a:r>
            <a:r>
              <a:rPr lang="zh-CN" altLang="zh-TW" sz="1400" dirty="0"/>
              <a:t>排序方式的</a:t>
            </a:r>
            <a:r>
              <a:rPr lang="zh-TW" altLang="zh-TW" sz="1400" b="1" dirty="0"/>
              <a:t>比較</a:t>
            </a:r>
            <a:r>
              <a:rPr lang="zh-CN" altLang="zh-TW" sz="1400" b="1" dirty="0"/>
              <a:t>函式</a:t>
            </a:r>
            <a:r>
              <a:rPr lang="zh-CN" altLang="zh-TW" sz="1400" dirty="0"/>
              <a:t>需要自行編寫</a:t>
            </a:r>
            <a:r>
              <a:rPr lang="zh-TW" altLang="en-US" sz="1400" dirty="0"/>
              <a:t>：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4582072C-0F63-465F-9145-F2A928A3B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380" y="5362602"/>
            <a:ext cx="4592049" cy="942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10244">
            <a:extLst>
              <a:ext uri="{FF2B5EF4-FFF2-40B4-BE49-F238E27FC236}">
                <a16:creationId xmlns:a16="http://schemas.microsoft.com/office/drawing/2014/main" id="{2A1985A8-B041-4214-AE97-C5454D4F4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7" y="566080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" name="Text Box 10245">
            <a:extLst>
              <a:ext uri="{FF2B5EF4-FFF2-40B4-BE49-F238E27FC236}">
                <a16:creationId xmlns:a16="http://schemas.microsoft.com/office/drawing/2014/main" id="{9190FE69-88EE-4625-A452-A5FEA04D8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31" y="5805264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63215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CD761-A309-42BF-8C45-9EC295FD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加入數位濾波的伺服馬達雲台程式</a:t>
            </a:r>
            <a:endParaRPr lang="zh-TW" alt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D26E239-3065-4A7E-8E81-7F0D092E4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479" y="1818745"/>
            <a:ext cx="49530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A6A53FB0-6966-4482-9866-592AA27DA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556528"/>
            <a:ext cx="4962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3A00CB-86F7-4D63-8E5E-DE360ACC1ED6}"/>
              </a:ext>
            </a:extLst>
          </p:cNvPr>
          <p:cNvSpPr/>
          <p:nvPr/>
        </p:nvSpPr>
        <p:spPr>
          <a:xfrm>
            <a:off x="328047" y="4586294"/>
            <a:ext cx="244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/>
              <a:t>控制伺服馬達的程式寫成</a:t>
            </a:r>
            <a:r>
              <a:rPr lang="en-US" altLang="zh-TW" sz="1400" dirty="0"/>
              <a:t>control</a:t>
            </a:r>
            <a:r>
              <a:rPr lang="zh-TW" altLang="zh-TW" sz="1400" dirty="0"/>
              <a:t>自訂函式：</a:t>
            </a:r>
            <a:endParaRPr lang="zh-TW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FF5B71-854E-4268-BBE0-1EA60061C530}"/>
              </a:ext>
            </a:extLst>
          </p:cNvPr>
          <p:cNvSpPr/>
          <p:nvPr/>
        </p:nvSpPr>
        <p:spPr>
          <a:xfrm>
            <a:off x="328047" y="1797044"/>
            <a:ext cx="31638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/>
              <a:t>讀取類比資料和排序（資料處理）的程式</a:t>
            </a:r>
            <a:r>
              <a:rPr lang="zh-CN" altLang="zh-TW" sz="1400"/>
              <a:t>寫成</a:t>
            </a:r>
            <a:r>
              <a:rPr lang="en-US" altLang="zh-TW" sz="1400" dirty="0"/>
              <a:t>filter</a:t>
            </a:r>
            <a:r>
              <a:rPr lang="zh-TW" altLang="zh-TW" sz="1400" dirty="0"/>
              <a:t>自訂函式：</a:t>
            </a:r>
            <a:endParaRPr lang="zh-TW" altLang="en-US" sz="1400" dirty="0"/>
          </a:p>
        </p:txBody>
      </p:sp>
      <p:sp>
        <p:nvSpPr>
          <p:cNvPr id="7" name="Oval 10244">
            <a:extLst>
              <a:ext uri="{FF2B5EF4-FFF2-40B4-BE49-F238E27FC236}">
                <a16:creationId xmlns:a16="http://schemas.microsoft.com/office/drawing/2014/main" id="{A7612C73-F740-45B9-955E-BAF57CEAB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811" y="5608959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5">
            <a:extLst>
              <a:ext uri="{FF2B5EF4-FFF2-40B4-BE49-F238E27FC236}">
                <a16:creationId xmlns:a16="http://schemas.microsoft.com/office/drawing/2014/main" id="{1143150D-0D99-4136-A70C-C986CB9E6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956" y="5753422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8066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8AB77-2794-4C96-A360-3B9D7CAA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使用陀螺儀和加速度計模組控制伺服馬達雲台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4028F7-D996-492E-8B81-9A78DA6A3C0A}"/>
              </a:ext>
            </a:extLst>
          </p:cNvPr>
          <p:cNvSpPr/>
          <p:nvPr/>
        </p:nvSpPr>
        <p:spPr>
          <a:xfrm>
            <a:off x="611560" y="1916832"/>
            <a:ext cx="46622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/>
              <a:t>測量物體在</a:t>
            </a:r>
            <a:r>
              <a:rPr lang="en-US" altLang="zh-TW" sz="1400" dirty="0"/>
              <a:t>3</a:t>
            </a:r>
            <a:r>
              <a:rPr lang="zh-CN" altLang="zh-TW" sz="1400" dirty="0"/>
              <a:t>度空間中的姿態和加速度的感測器，統稱為慣性測量單元（簡稱</a:t>
            </a:r>
            <a:r>
              <a:rPr lang="en-US" altLang="zh-TW" sz="1400" dirty="0"/>
              <a:t>IMU</a:t>
            </a:r>
            <a:r>
              <a:rPr lang="zh-CN" altLang="zh-TW" sz="1400" dirty="0"/>
              <a:t>）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endParaRPr lang="en-US" altLang="zh-TW" sz="1400" dirty="0"/>
          </a:p>
          <a:p>
            <a:r>
              <a:rPr lang="zh-TW" altLang="en-US" sz="1400" dirty="0"/>
              <a:t>感測姿態以及加速度都是基於運動定律</a:t>
            </a:r>
            <a:endParaRPr lang="en-US" altLang="zh-TW" sz="1400" dirty="0"/>
          </a:p>
        </p:txBody>
      </p:sp>
      <p:pic>
        <p:nvPicPr>
          <p:cNvPr id="11266" name="Picture 14" descr="cc1">
            <a:extLst>
              <a:ext uri="{FF2B5EF4-FFF2-40B4-BE49-F238E27FC236}">
                <a16:creationId xmlns:a16="http://schemas.microsoft.com/office/drawing/2014/main" id="{15480F7C-C78D-491A-ACAF-0D9DFA27F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653" y="2568568"/>
            <a:ext cx="42195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EF9DFB6-ED06-4AF6-8EF7-AF1503C47983}"/>
              </a:ext>
            </a:extLst>
          </p:cNvPr>
          <p:cNvSpPr/>
          <p:nvPr/>
        </p:nvSpPr>
        <p:spPr>
          <a:xfrm>
            <a:off x="571794" y="4185374"/>
            <a:ext cx="55843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整合機械和電子的微型元件，統稱</a:t>
            </a:r>
            <a:r>
              <a:rPr lang="zh-TW" altLang="en-US" sz="1400" b="1" dirty="0"/>
              <a:t>微機電系統</a:t>
            </a:r>
            <a:r>
              <a:rPr lang="zh-TW" altLang="en-US" sz="1400" dirty="0"/>
              <a:t>（簡稱</a:t>
            </a:r>
            <a:r>
              <a:rPr lang="en-US" altLang="zh-TW" sz="1400" dirty="0"/>
              <a:t>MEMS</a:t>
            </a:r>
            <a:r>
              <a:rPr lang="zh-TW" altLang="en-US" sz="1400" dirty="0"/>
              <a:t>）</a:t>
            </a:r>
          </a:p>
        </p:txBody>
      </p:sp>
      <p:pic>
        <p:nvPicPr>
          <p:cNvPr id="11267" name="圖片 2">
            <a:extLst>
              <a:ext uri="{FF2B5EF4-FFF2-40B4-BE49-F238E27FC236}">
                <a16:creationId xmlns:a16="http://schemas.microsoft.com/office/drawing/2014/main" id="{2E070F1D-B2EC-4033-9181-40D60AC5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866" y="4805032"/>
            <a:ext cx="52768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10244">
            <a:extLst>
              <a:ext uri="{FF2B5EF4-FFF2-40B4-BE49-F238E27FC236}">
                <a16:creationId xmlns:a16="http://schemas.microsoft.com/office/drawing/2014/main" id="{B3F45F06-2394-4912-92F5-0007AB217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7" y="566080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5">
            <a:extLst>
              <a:ext uri="{FF2B5EF4-FFF2-40B4-BE49-F238E27FC236}">
                <a16:creationId xmlns:a16="http://schemas.microsoft.com/office/drawing/2014/main" id="{43986EB7-684D-478C-A486-1321FE63C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31" y="5805264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6070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167CDA-25ED-4242-B588-B3CB3094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認識</a:t>
            </a:r>
            <a:r>
              <a:rPr lang="en-US" altLang="zh-TW" dirty="0"/>
              <a:t>MPU-6050</a:t>
            </a:r>
            <a:r>
              <a:rPr lang="zh-CN" altLang="zh-TW" dirty="0"/>
              <a:t>陀螺儀和加速度感測器模組</a:t>
            </a:r>
            <a:endParaRPr lang="zh-TW" altLang="en-US" dirty="0"/>
          </a:p>
        </p:txBody>
      </p:sp>
      <p:pic>
        <p:nvPicPr>
          <p:cNvPr id="12290" name="圖片 4">
            <a:extLst>
              <a:ext uri="{FF2B5EF4-FFF2-40B4-BE49-F238E27FC236}">
                <a16:creationId xmlns:a16="http://schemas.microsoft.com/office/drawing/2014/main" id="{58CBF993-E8C8-453A-98E7-DC02CF054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645024"/>
            <a:ext cx="5229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A34F711-468E-4EAD-A48D-F9EC0FB84EB9}"/>
              </a:ext>
            </a:extLst>
          </p:cNvPr>
          <p:cNvSpPr/>
          <p:nvPr/>
        </p:nvSpPr>
        <p:spPr>
          <a:xfrm>
            <a:off x="683568" y="1684537"/>
            <a:ext cx="76145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dirty="0"/>
              <a:t>MPU-6050</a:t>
            </a:r>
            <a:r>
              <a:rPr lang="zh-CN" altLang="zh-TW" sz="1400" dirty="0"/>
              <a:t>晶片的基本規格如下：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dirty="0"/>
              <a:t>工作電壓範圍：</a:t>
            </a:r>
            <a:r>
              <a:rPr lang="en-US" altLang="zh-TW" sz="1400" dirty="0"/>
              <a:t>2.375V~3.46V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dirty="0"/>
              <a:t>陀螺儀檢測範圍：可透過程式設定±</a:t>
            </a:r>
            <a:r>
              <a:rPr lang="en-US" altLang="zh-TW" sz="1400" dirty="0"/>
              <a:t>250, </a:t>
            </a:r>
            <a:r>
              <a:rPr lang="zh-CN" altLang="zh-TW" sz="1400" dirty="0"/>
              <a:t>±</a:t>
            </a:r>
            <a:r>
              <a:rPr lang="en-US" altLang="zh-TW" sz="1400" dirty="0"/>
              <a:t>500, </a:t>
            </a:r>
            <a:r>
              <a:rPr lang="zh-CN" altLang="zh-TW" sz="1400" dirty="0"/>
              <a:t>±</a:t>
            </a:r>
            <a:r>
              <a:rPr lang="en-US" altLang="zh-TW" sz="1400" dirty="0"/>
              <a:t>1000</a:t>
            </a:r>
            <a:r>
              <a:rPr lang="zh-CN" altLang="zh-TW" sz="1400" dirty="0"/>
              <a:t>或±</a:t>
            </a:r>
            <a:r>
              <a:rPr lang="en-US" altLang="zh-TW" sz="1400" dirty="0"/>
              <a:t>2000</a:t>
            </a:r>
            <a:r>
              <a:rPr lang="zh-CN" altLang="zh-TW" sz="1400" dirty="0"/>
              <a:t>°</a:t>
            </a:r>
            <a:r>
              <a:rPr lang="en-US" altLang="zh-TW" sz="1400" dirty="0"/>
              <a:t>/s</a:t>
            </a:r>
            <a:r>
              <a:rPr lang="zh-CN" altLang="zh-TW" sz="1400" dirty="0"/>
              <a:t>。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dirty="0"/>
              <a:t>加速度檢測範圍：可透過程式設定±</a:t>
            </a:r>
            <a:r>
              <a:rPr lang="en-US" altLang="zh-TW" sz="1400" dirty="0"/>
              <a:t>2, </a:t>
            </a:r>
            <a:r>
              <a:rPr lang="zh-CN" altLang="zh-TW" sz="1400" dirty="0"/>
              <a:t>±</a:t>
            </a:r>
            <a:r>
              <a:rPr lang="en-US" altLang="zh-TW" sz="1400" dirty="0"/>
              <a:t>4, </a:t>
            </a:r>
            <a:r>
              <a:rPr lang="zh-CN" altLang="zh-TW" sz="1400" dirty="0"/>
              <a:t>±</a:t>
            </a:r>
            <a:r>
              <a:rPr lang="en-US" altLang="zh-TW" sz="1400" dirty="0"/>
              <a:t>8</a:t>
            </a:r>
            <a:r>
              <a:rPr lang="zh-CN" altLang="zh-TW" sz="1400" dirty="0"/>
              <a:t>或±</a:t>
            </a:r>
            <a:r>
              <a:rPr lang="en-US" altLang="zh-TW" sz="1400" dirty="0"/>
              <a:t>16G</a:t>
            </a:r>
            <a:r>
              <a:rPr lang="zh-CN" altLang="zh-TW" sz="1400" dirty="0"/>
              <a:t>。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TW" sz="1400" dirty="0"/>
              <a:t>內建溫度感測器，用於測量晶片溫度。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altLang="zh-TW" sz="1400" dirty="0"/>
              <a:t>I2C</a:t>
            </a:r>
            <a:r>
              <a:rPr lang="zh-CN" altLang="zh-TW" sz="1400" dirty="0"/>
              <a:t>位址透過晶片的</a:t>
            </a:r>
            <a:r>
              <a:rPr lang="en-US" altLang="zh-TW" sz="1400" dirty="0"/>
              <a:t>ADO</a:t>
            </a:r>
            <a:r>
              <a:rPr lang="zh-CN" altLang="zh-TW" sz="1400" dirty="0"/>
              <a:t>腳設定，可以是</a:t>
            </a:r>
            <a:r>
              <a:rPr lang="en-US" altLang="zh-TW" sz="1400" dirty="0"/>
              <a:t>0x68</a:t>
            </a:r>
            <a:r>
              <a:rPr lang="zh-CN" altLang="zh-TW" sz="1400" dirty="0"/>
              <a:t>或</a:t>
            </a:r>
            <a:r>
              <a:rPr lang="en-US" altLang="zh-TW" sz="1400" dirty="0"/>
              <a:t>0x69</a:t>
            </a:r>
            <a:r>
              <a:rPr lang="zh-CN" altLang="zh-TW" sz="1400" dirty="0"/>
              <a:t>。</a:t>
            </a:r>
            <a:endParaRPr lang="zh-TW" altLang="zh-TW" sz="1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00E68AE-CFE1-4181-A48D-F4CF78351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" y="5051425"/>
            <a:ext cx="5305425" cy="17049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42D360A-AA39-45E9-80D5-24941F672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21" y="5080434"/>
            <a:ext cx="3267075" cy="1524000"/>
          </a:xfrm>
          <a:prstGeom prst="rect">
            <a:avLst/>
          </a:prstGeom>
        </p:spPr>
      </p:pic>
      <p:sp>
        <p:nvSpPr>
          <p:cNvPr id="7" name="Oval 10244">
            <a:extLst>
              <a:ext uri="{FF2B5EF4-FFF2-40B4-BE49-F238E27FC236}">
                <a16:creationId xmlns:a16="http://schemas.microsoft.com/office/drawing/2014/main" id="{93ACB7FC-E6E8-412D-9896-9EB5331C3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6360" y="2730717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5">
            <a:extLst>
              <a:ext uri="{FF2B5EF4-FFF2-40B4-BE49-F238E27FC236}">
                <a16:creationId xmlns:a16="http://schemas.microsoft.com/office/drawing/2014/main" id="{E9045C55-4314-4CF4-8884-0BFD78B7A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8504" y="2875180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27532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5CB5E4-3173-40B8-B6C7-D127CA7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529" y="101600"/>
            <a:ext cx="6120903" cy="1143000"/>
          </a:xfrm>
        </p:spPr>
        <p:txBody>
          <a:bodyPr/>
          <a:lstStyle/>
          <a:p>
            <a:r>
              <a:rPr lang="zh-CN" altLang="zh-TW" dirty="0"/>
              <a:t>從陀螺儀和加速度計</a:t>
            </a:r>
            <a:br>
              <a:rPr lang="en-US" altLang="zh-CN" dirty="0"/>
            </a:br>
            <a:r>
              <a:rPr lang="zh-CN" altLang="zh-TW" dirty="0"/>
              <a:t>取得角度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DDE122-06DF-4EC8-83E6-F78BC9F54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197004"/>
              </p:ext>
            </p:extLst>
          </p:nvPr>
        </p:nvGraphicFramePr>
        <p:xfrm>
          <a:off x="3023843" y="2410847"/>
          <a:ext cx="5112439" cy="990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3941">
                  <a:extLst>
                    <a:ext uri="{9D8B030D-6E8A-4147-A177-3AD203B41FA5}">
                      <a16:colId xmlns:a16="http://schemas.microsoft.com/office/drawing/2014/main" val="920263270"/>
                    </a:ext>
                  </a:extLst>
                </a:gridCol>
                <a:gridCol w="1703941">
                  <a:extLst>
                    <a:ext uri="{9D8B030D-6E8A-4147-A177-3AD203B41FA5}">
                      <a16:colId xmlns:a16="http://schemas.microsoft.com/office/drawing/2014/main" val="2792071937"/>
                    </a:ext>
                  </a:extLst>
                </a:gridCol>
                <a:gridCol w="1704557">
                  <a:extLst>
                    <a:ext uri="{9D8B030D-6E8A-4147-A177-3AD203B41FA5}">
                      <a16:colId xmlns:a16="http://schemas.microsoft.com/office/drawing/2014/main" val="3067631646"/>
                    </a:ext>
                  </a:extLst>
                </a:gridCol>
              </a:tblGrid>
              <a:tr h="194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kern="100" dirty="0">
                          <a:effectLst/>
                        </a:rPr>
                        <a:t>角速度</a:t>
                      </a:r>
                      <a:endParaRPr lang="zh-TW" sz="13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持續時間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kern="100">
                          <a:effectLst/>
                        </a:rPr>
                        <a:t>旋轉角度加總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extLst>
                  <a:ext uri="{0D108BD9-81ED-4DB2-BD59-A6C34878D82A}">
                    <a16:rowId xmlns:a16="http://schemas.microsoft.com/office/drawing/2014/main" val="1839264353"/>
                  </a:ext>
                </a:extLst>
              </a:tr>
              <a:tr h="194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</a:t>
                      </a:r>
                      <a:r>
                        <a:rPr lang="zh-CN" sz="1300" kern="100" dirty="0">
                          <a:effectLst/>
                        </a:rPr>
                        <a:t>°</a:t>
                      </a:r>
                      <a:r>
                        <a:rPr lang="en-US" sz="1300" kern="100" dirty="0">
                          <a:effectLst/>
                        </a:rPr>
                        <a:t>/</a:t>
                      </a:r>
                      <a:r>
                        <a:rPr lang="zh-CN" sz="1300" kern="100" dirty="0">
                          <a:effectLst/>
                        </a:rPr>
                        <a:t>秒</a:t>
                      </a:r>
                      <a:endParaRPr lang="zh-TW" sz="13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5</a:t>
                      </a:r>
                      <a:r>
                        <a:rPr lang="zh-CN" sz="1300" kern="100">
                          <a:effectLst/>
                        </a:rPr>
                        <a:t>°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extLst>
                  <a:ext uri="{0D108BD9-81ED-4DB2-BD59-A6C34878D82A}">
                    <a16:rowId xmlns:a16="http://schemas.microsoft.com/office/drawing/2014/main" val="3426353846"/>
                  </a:ext>
                </a:extLst>
              </a:tr>
              <a:tr h="194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15</a:t>
                      </a:r>
                      <a:r>
                        <a:rPr lang="zh-CN" sz="1300" kern="100">
                          <a:effectLst/>
                        </a:rPr>
                        <a:t>°</a:t>
                      </a:r>
                      <a:r>
                        <a:rPr lang="en-US" sz="1300" kern="100">
                          <a:effectLst/>
                        </a:rPr>
                        <a:t>/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2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35</a:t>
                      </a:r>
                      <a:r>
                        <a:rPr lang="zh-CN" sz="1300" kern="100" dirty="0">
                          <a:effectLst/>
                        </a:rPr>
                        <a:t>°</a:t>
                      </a:r>
                      <a:endParaRPr lang="zh-TW" sz="13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extLst>
                  <a:ext uri="{0D108BD9-81ED-4DB2-BD59-A6C34878D82A}">
                    <a16:rowId xmlns:a16="http://schemas.microsoft.com/office/drawing/2014/main" val="4017466055"/>
                  </a:ext>
                </a:extLst>
              </a:tr>
              <a:tr h="194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-10</a:t>
                      </a:r>
                      <a:r>
                        <a:rPr lang="zh-CN" sz="1300" kern="100">
                          <a:effectLst/>
                        </a:rPr>
                        <a:t>°</a:t>
                      </a:r>
                      <a:r>
                        <a:rPr lang="en-US" sz="1300" kern="100">
                          <a:effectLst/>
                        </a:rPr>
                        <a:t>/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2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15</a:t>
                      </a:r>
                      <a:r>
                        <a:rPr lang="zh-CN" sz="1300" kern="100">
                          <a:effectLst/>
                        </a:rPr>
                        <a:t>°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extLst>
                  <a:ext uri="{0D108BD9-81ED-4DB2-BD59-A6C34878D82A}">
                    <a16:rowId xmlns:a16="http://schemas.microsoft.com/office/drawing/2014/main" val="916591171"/>
                  </a:ext>
                </a:extLst>
              </a:tr>
              <a:tr h="1941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-15</a:t>
                      </a:r>
                      <a:r>
                        <a:rPr lang="zh-CN" sz="1300" kern="100">
                          <a:effectLst/>
                        </a:rPr>
                        <a:t>°</a:t>
                      </a:r>
                      <a:r>
                        <a:rPr lang="en-US" sz="1300" kern="100">
                          <a:effectLst/>
                        </a:rPr>
                        <a:t>/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1</a:t>
                      </a:r>
                      <a:r>
                        <a:rPr lang="zh-CN" sz="1300" kern="100">
                          <a:effectLst/>
                        </a:rPr>
                        <a:t>秒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</a:t>
                      </a:r>
                      <a:r>
                        <a:rPr lang="zh-CN" sz="1300" kern="100" dirty="0">
                          <a:effectLst/>
                        </a:rPr>
                        <a:t>°</a:t>
                      </a:r>
                      <a:endParaRPr lang="zh-TW" sz="13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83204" marR="83204" marT="0" marB="0"/>
                </a:tc>
                <a:extLst>
                  <a:ext uri="{0D108BD9-81ED-4DB2-BD59-A6C34878D82A}">
                    <a16:rowId xmlns:a16="http://schemas.microsoft.com/office/drawing/2014/main" val="2537256328"/>
                  </a:ext>
                </a:extLst>
              </a:tr>
            </a:tbl>
          </a:graphicData>
        </a:graphic>
      </p:graphicFrame>
      <p:pic>
        <p:nvPicPr>
          <p:cNvPr id="13313" name="圖片 16">
            <a:extLst>
              <a:ext uri="{FF2B5EF4-FFF2-40B4-BE49-F238E27FC236}">
                <a16:creationId xmlns:a16="http://schemas.microsoft.com/office/drawing/2014/main" id="{7891C7A4-4C55-4E26-BE82-E7F477CA9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915" y="4307781"/>
            <a:ext cx="44100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圖片 19">
            <a:extLst>
              <a:ext uri="{FF2B5EF4-FFF2-40B4-BE49-F238E27FC236}">
                <a16:creationId xmlns:a16="http://schemas.microsoft.com/office/drawing/2014/main" id="{A2959744-2E6A-4840-873E-994B0AD45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5446316"/>
            <a:ext cx="52863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FD94113-CF55-4FA5-9C24-C6CEAA3BCE3E}"/>
              </a:ext>
            </a:extLst>
          </p:cNvPr>
          <p:cNvSpPr/>
          <p:nvPr/>
        </p:nvSpPr>
        <p:spPr>
          <a:xfrm>
            <a:off x="107504" y="5572284"/>
            <a:ext cx="30702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TW" sz="1400" dirty="0"/>
              <a:t>用互補濾波計算出當前角度的算式：「取部份比例的陀螺儀感測值」加上「部份比例的加速度計值」</a:t>
            </a:r>
            <a:r>
              <a:rPr lang="zh-TW" altLang="en-US" sz="1400" dirty="0"/>
              <a:t>。</a:t>
            </a:r>
            <a:endParaRPr lang="zh-TW" altLang="zh-TW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F3BA45-68C3-42EB-AABC-79816E608583}"/>
              </a:ext>
            </a:extLst>
          </p:cNvPr>
          <p:cNvSpPr/>
          <p:nvPr/>
        </p:nvSpPr>
        <p:spPr>
          <a:xfrm>
            <a:off x="135868" y="3734094"/>
            <a:ext cx="71004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TW" sz="1400" dirty="0"/>
              <a:t>將角速度轉換成角度的公式如下，每隔一段時間讀取角速度值，再加總起來：</a:t>
            </a:r>
            <a:endParaRPr lang="zh-TW" altLang="zh-TW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2D5AC8-285E-4513-9E4C-9D0DBA5DA36D}"/>
              </a:ext>
            </a:extLst>
          </p:cNvPr>
          <p:cNvSpPr/>
          <p:nvPr/>
        </p:nvSpPr>
        <p:spPr>
          <a:xfrm>
            <a:off x="250850" y="1607830"/>
            <a:ext cx="59766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/>
              <a:t>陀螺儀傳回的感測資料是「角速度」值，單位是</a:t>
            </a:r>
            <a:r>
              <a:rPr lang="en-US" altLang="zh-TW" sz="1400" dirty="0"/>
              <a:t>“</a:t>
            </a:r>
            <a:r>
              <a:rPr lang="zh-CN" altLang="zh-TW" sz="1400" dirty="0"/>
              <a:t>°</a:t>
            </a:r>
            <a:r>
              <a:rPr lang="en-US" altLang="zh-TW" sz="1400" dirty="0"/>
              <a:t>/s” </a:t>
            </a:r>
            <a:r>
              <a:rPr lang="zh-CN" altLang="zh-TW" sz="1400" dirty="0"/>
              <a:t>（度</a:t>
            </a:r>
            <a:r>
              <a:rPr lang="en-US" altLang="zh-TW" sz="1400" dirty="0"/>
              <a:t>/</a:t>
            </a:r>
            <a:r>
              <a:rPr lang="zh-CN" altLang="zh-TW" sz="1400" dirty="0"/>
              <a:t>秒）。如要取得從最初狀態（原點）到現在的角度變化，我們必須自行把這一段時間之內的所有角度變化加總起來。</a:t>
            </a:r>
            <a:endParaRPr lang="zh-TW" altLang="en-US" sz="1400" dirty="0"/>
          </a:p>
        </p:txBody>
      </p:sp>
      <p:sp>
        <p:nvSpPr>
          <p:cNvPr id="9" name="Oval 10244">
            <a:extLst>
              <a:ext uri="{FF2B5EF4-FFF2-40B4-BE49-F238E27FC236}">
                <a16:creationId xmlns:a16="http://schemas.microsoft.com/office/drawing/2014/main" id="{F9C4F64A-FA3E-49BE-94D6-EBF57D821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84" y="442885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" name="Text Box 10245">
            <a:extLst>
              <a:ext uri="{FF2B5EF4-FFF2-40B4-BE49-F238E27FC236}">
                <a16:creationId xmlns:a16="http://schemas.microsoft.com/office/drawing/2014/main" id="{461118DC-9BE5-4513-906C-7D1925855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28" y="4573321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85644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623DE-1067-4869-9FF5-6D020C32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安裝</a:t>
            </a:r>
            <a:r>
              <a:rPr lang="en-US" altLang="zh-TW" dirty="0"/>
              <a:t>MPU-6050</a:t>
            </a:r>
            <a:r>
              <a:rPr lang="zh-CN" altLang="zh-TW" dirty="0"/>
              <a:t>程式庫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275770-16C7-4220-9C2B-AF40DA6E0132}"/>
              </a:ext>
            </a:extLst>
          </p:cNvPr>
          <p:cNvSpPr/>
          <p:nvPr/>
        </p:nvSpPr>
        <p:spPr>
          <a:xfrm>
            <a:off x="1490643" y="4091191"/>
            <a:ext cx="63937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1400" dirty="0"/>
              <a:t>MPU6050_tockn</a:t>
            </a:r>
            <a:r>
              <a:rPr lang="zh-CN" altLang="zh-TW" sz="1400" dirty="0"/>
              <a:t>程式庫提供這些這些函式：</a:t>
            </a:r>
            <a:endParaRPr lang="zh-TW" altLang="zh-TW" sz="1400" dirty="0"/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calcGyroOffsets</a:t>
            </a:r>
            <a:r>
              <a:rPr lang="en-US" altLang="zh-TW" sz="1400" dirty="0"/>
              <a:t>()</a:t>
            </a:r>
            <a:r>
              <a:rPr lang="zh-TW" altLang="zh-TW" sz="1400" dirty="0"/>
              <a:t>：計算偏移量（相當於執行校正作業）。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/>
              <a:t>update()</a:t>
            </a:r>
            <a:r>
              <a:rPr lang="zh-TW" altLang="zh-TW" sz="1400" dirty="0"/>
              <a:t>：更新感測數據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getRawGyroX</a:t>
            </a:r>
            <a:r>
              <a:rPr lang="en-US" altLang="zh-TW" sz="1400" dirty="0"/>
              <a:t> ()</a:t>
            </a:r>
            <a:r>
              <a:rPr lang="zh-TW" altLang="zh-TW" sz="1400" dirty="0"/>
              <a:t>：傳回陀螺儀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軸方向的原始角速度值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getGyroX</a:t>
            </a:r>
            <a:r>
              <a:rPr lang="en-US" altLang="zh-TW" sz="1400" dirty="0"/>
              <a:t>()</a:t>
            </a:r>
            <a:r>
              <a:rPr lang="zh-TW" altLang="zh-TW" sz="1400" dirty="0"/>
              <a:t>：傳回轉換成物理單位（</a:t>
            </a:r>
            <a:r>
              <a:rPr lang="en-US" altLang="zh-TW" sz="1400" dirty="0"/>
              <a:t>°/</a:t>
            </a:r>
            <a:r>
              <a:rPr lang="zh-TW" altLang="zh-TW" sz="1400" dirty="0"/>
              <a:t>秒）的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軸方向的角速度值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getGyroAngleX</a:t>
            </a:r>
            <a:r>
              <a:rPr lang="en-US" altLang="zh-TW" sz="1400" dirty="0"/>
              <a:t>()</a:t>
            </a:r>
            <a:r>
              <a:rPr lang="zh-TW" altLang="zh-TW" sz="1400" dirty="0"/>
              <a:t>：傳回陀螺儀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軸方向的角度值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getRawAccX</a:t>
            </a:r>
            <a:r>
              <a:rPr lang="en-US" altLang="zh-TW" sz="1400" dirty="0"/>
              <a:t>()</a:t>
            </a:r>
            <a:r>
              <a:rPr lang="zh-TW" altLang="zh-TW" sz="1400" dirty="0"/>
              <a:t>：傳回加速度計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軸方向的原始加速度值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getAccX</a:t>
            </a:r>
            <a:r>
              <a:rPr lang="en-US" altLang="zh-TW" sz="1400" dirty="0"/>
              <a:t>()</a:t>
            </a:r>
            <a:r>
              <a:rPr lang="zh-TW" altLang="zh-TW" sz="1400" dirty="0"/>
              <a:t>：傳回轉成物理單位（</a:t>
            </a:r>
            <a:r>
              <a:rPr lang="en-US" altLang="zh-TW" sz="1400" dirty="0"/>
              <a:t>g</a:t>
            </a:r>
            <a:r>
              <a:rPr lang="zh-TW" altLang="zh-TW" sz="1400" dirty="0"/>
              <a:t>）的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軸方向的加速度值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getAccAngleX</a:t>
            </a:r>
            <a:r>
              <a:rPr lang="en-US" altLang="zh-TW" sz="1400" dirty="0"/>
              <a:t>()</a:t>
            </a:r>
            <a:r>
              <a:rPr lang="zh-TW" altLang="zh-TW" sz="1400" dirty="0"/>
              <a:t>：傳回加速度計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軸方向的角度值</a:t>
            </a: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/>
              <a:t>getAngleX</a:t>
            </a:r>
            <a:r>
              <a:rPr lang="en-US" altLang="zh-TW" sz="1400" dirty="0"/>
              <a:t>()</a:t>
            </a:r>
            <a:r>
              <a:rPr lang="zh-TW" altLang="zh-TW" sz="1400" dirty="0"/>
              <a:t>：融合陀螺儀和加速度計的</a:t>
            </a:r>
            <a:r>
              <a:rPr lang="en-US" altLang="zh-TW" sz="1400" dirty="0"/>
              <a:t>X</a:t>
            </a:r>
            <a:r>
              <a:rPr lang="zh-TW" altLang="zh-TW" sz="1400" dirty="0"/>
              <a:t>軸方向的角度值</a:t>
            </a:r>
          </a:p>
        </p:txBody>
      </p:sp>
      <p:sp>
        <p:nvSpPr>
          <p:cNvPr id="5" name="Oval 10244">
            <a:extLst>
              <a:ext uri="{FF2B5EF4-FFF2-40B4-BE49-F238E27FC236}">
                <a16:creationId xmlns:a16="http://schemas.microsoft.com/office/drawing/2014/main" id="{D7CB6977-508A-4399-81E8-4D2C17EA4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901" y="4941664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0245">
            <a:extLst>
              <a:ext uri="{FF2B5EF4-FFF2-40B4-BE49-F238E27FC236}">
                <a16:creationId xmlns:a16="http://schemas.microsoft.com/office/drawing/2014/main" id="{1C70A3A5-5077-48BC-BBF1-FB04D8BDD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046" y="5086127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ADC5D4-7939-56E0-29B8-A1CA42EF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428565"/>
            <a:ext cx="304165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3099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63D697-8998-4F1E-A82A-9621F4339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讀取</a:t>
            </a:r>
            <a:r>
              <a:rPr lang="en-US" altLang="zh-TW" dirty="0"/>
              <a:t>IMU</a:t>
            </a:r>
            <a:r>
              <a:rPr lang="zh-CN" altLang="zh-TW" dirty="0"/>
              <a:t>數據</a:t>
            </a:r>
            <a:endParaRPr lang="zh-TW" altLang="en-US" dirty="0"/>
          </a:p>
        </p:txBody>
      </p:sp>
      <p:pic>
        <p:nvPicPr>
          <p:cNvPr id="15362" name="圖片 6">
            <a:extLst>
              <a:ext uri="{FF2B5EF4-FFF2-40B4-BE49-F238E27FC236}">
                <a16:creationId xmlns:a16="http://schemas.microsoft.com/office/drawing/2014/main" id="{91D314A3-6335-42B1-A580-0A00B56C2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830755"/>
            <a:ext cx="52768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圖片 8">
            <a:extLst>
              <a:ext uri="{FF2B5EF4-FFF2-40B4-BE49-F238E27FC236}">
                <a16:creationId xmlns:a16="http://schemas.microsoft.com/office/drawing/2014/main" id="{1B28DA97-E2AD-44C5-AE12-496DFC95A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4" y="4174963"/>
            <a:ext cx="5394995" cy="2512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10244">
            <a:extLst>
              <a:ext uri="{FF2B5EF4-FFF2-40B4-BE49-F238E27FC236}">
                <a16:creationId xmlns:a16="http://schemas.microsoft.com/office/drawing/2014/main" id="{49E22A8D-74A6-4801-9489-74BB1F407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20" y="3659555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0245">
            <a:extLst>
              <a:ext uri="{FF2B5EF4-FFF2-40B4-BE49-F238E27FC236}">
                <a16:creationId xmlns:a16="http://schemas.microsoft.com/office/drawing/2014/main" id="{877D087D-25E1-487A-ACBE-2B3A955C5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65" y="3804018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4728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1B97EED8-5126-F5A4-57B6-82E20F85E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50" y="2296483"/>
            <a:ext cx="4397375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CE4A66-D20D-4951-B0D1-5BEF7E09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TW" dirty="0"/>
              <a:t>透過「序列埠繪圖家」</a:t>
            </a:r>
            <a:br>
              <a:rPr lang="en-US" altLang="zh-CN" dirty="0"/>
            </a:br>
            <a:r>
              <a:rPr lang="zh-CN" altLang="zh-TW" dirty="0"/>
              <a:t>呈現訊號波型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2736C4-1F2C-437A-A1D7-9C9B9CAA6A1A}"/>
              </a:ext>
            </a:extLst>
          </p:cNvPr>
          <p:cNvSpPr/>
          <p:nvPr/>
        </p:nvSpPr>
        <p:spPr>
          <a:xfrm>
            <a:off x="611560" y="1628800"/>
            <a:ext cx="54726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/>
              <a:t>「序列繪圖家」工具</a:t>
            </a:r>
            <a:r>
              <a:rPr lang="zh-TW" altLang="en-US" sz="1400" dirty="0"/>
              <a:t>的</a:t>
            </a:r>
            <a:r>
              <a:rPr lang="zh-CN" altLang="zh-TW" sz="1400" dirty="0"/>
              <a:t>輸出資料必須用新行字元（</a:t>
            </a:r>
            <a:r>
              <a:rPr lang="en-US" altLang="zh-TW" sz="1400" dirty="0"/>
              <a:t>\n</a:t>
            </a:r>
            <a:r>
              <a:rPr lang="zh-CN" altLang="zh-TW" sz="1400" dirty="0"/>
              <a:t>）結尾，一筆資料可包含多個數值，每個數值之間用逗號分隔</a:t>
            </a:r>
            <a:r>
              <a:rPr lang="zh-TW" altLang="en-US" sz="1400" dirty="0"/>
              <a:t>：</a:t>
            </a:r>
          </a:p>
        </p:txBody>
      </p:sp>
      <p:sp>
        <p:nvSpPr>
          <p:cNvPr id="7" name="Oval 10244">
            <a:extLst>
              <a:ext uri="{FF2B5EF4-FFF2-40B4-BE49-F238E27FC236}">
                <a16:creationId xmlns:a16="http://schemas.microsoft.com/office/drawing/2014/main" id="{337923FD-EB5B-41AD-8641-36922A4D4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87" y="566080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5">
            <a:extLst>
              <a:ext uri="{FF2B5EF4-FFF2-40B4-BE49-F238E27FC236}">
                <a16:creationId xmlns:a16="http://schemas.microsoft.com/office/drawing/2014/main" id="{F4B37E21-3FBE-4BF6-8E2E-02B03C199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31" y="5805264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FF6067-156D-5BD8-B4EC-10BC043C8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996" y="3858022"/>
            <a:ext cx="4596286" cy="289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6033012-709B-388C-1CF7-F33282FA2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260" y="3100261"/>
            <a:ext cx="37719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45E401B6-885A-4C64-A51E-B807E5A0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98" y="2601262"/>
            <a:ext cx="4267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5407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BEC24-DCF0-93A8-AE6F-4C4EAE8F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存取</a:t>
            </a:r>
            <a:r>
              <a:rPr lang="en-US" altLang="zh-TW" dirty="0"/>
              <a:t>EEPROM</a:t>
            </a:r>
            <a:r>
              <a:rPr lang="zh-TW" altLang="en-US" dirty="0"/>
              <a:t>記憶體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D53C31-3129-7D73-C5A0-CDD48843195F}"/>
              </a:ext>
            </a:extLst>
          </p:cNvPr>
          <p:cNvSpPr/>
          <p:nvPr/>
        </p:nvSpPr>
        <p:spPr>
          <a:xfrm>
            <a:off x="314220" y="3734544"/>
            <a:ext cx="3249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ATmega328</a:t>
            </a:r>
            <a:r>
              <a:rPr lang="zh-TW" altLang="en-US" sz="1400" dirty="0"/>
              <a:t>微控器內部的</a:t>
            </a:r>
            <a:r>
              <a:rPr lang="en-US" altLang="zh-TW" sz="1400" dirty="0"/>
              <a:t>EEPROM</a:t>
            </a:r>
            <a:r>
              <a:rPr lang="zh-TW" altLang="en-US" sz="1400" dirty="0"/>
              <a:t>大小為</a:t>
            </a:r>
            <a:r>
              <a:rPr lang="en-US" altLang="zh-TW" sz="1400" dirty="0"/>
              <a:t>1KB</a:t>
            </a:r>
            <a:r>
              <a:rPr lang="zh-TW" altLang="en-US" sz="1400" dirty="0"/>
              <a:t>，</a:t>
            </a:r>
            <a:r>
              <a:rPr lang="en-US" altLang="zh-TW" sz="1400" dirty="0"/>
              <a:t>RA4M1</a:t>
            </a:r>
            <a:r>
              <a:rPr lang="zh-TW" altLang="en-US" sz="1400" dirty="0"/>
              <a:t>微控器則是</a:t>
            </a:r>
            <a:r>
              <a:rPr lang="en-US" altLang="zh-TW" sz="1400" dirty="0"/>
              <a:t>8KB</a:t>
            </a:r>
            <a:r>
              <a:rPr lang="zh-TW" altLang="en-US" sz="1400" dirty="0"/>
              <a:t>。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586893-5BD0-F500-6658-1F154A777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82" y="1764810"/>
            <a:ext cx="1700212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AE5D59BF-F6BA-0A2D-0479-E70D022E5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163" y="1706072"/>
            <a:ext cx="549275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D9573ED-E0F6-C5CB-6335-9BFF4B2DD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88" y="4725144"/>
            <a:ext cx="2286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53E454C-9CEC-53AE-DA2E-212AFBCA4457}"/>
              </a:ext>
            </a:extLst>
          </p:cNvPr>
          <p:cNvSpPr txBox="1"/>
          <p:nvPr/>
        </p:nvSpPr>
        <p:spPr>
          <a:xfrm>
            <a:off x="4092373" y="3492791"/>
            <a:ext cx="4572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void setup() {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Serial.begin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(9600);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int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= 0;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起始位址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int data = 1234;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整數型態資料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更新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EEPROM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內容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EEPROM.update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, data &gt;&gt; 8);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寫入高位元組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EEPROM.update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+ 1, data &amp; 0xFF);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寫入低位元組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// 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讀取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EEPROM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內容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int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= 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EEPROM.read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) &lt;&lt; 8) +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EEPROM.read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(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addr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+ 1);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 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Serial.println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(String("</a:t>
            </a:r>
            <a:r>
              <a:rPr lang="zh-TW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資料值：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") + </a:t>
            </a:r>
            <a:r>
              <a:rPr lang="en-US" altLang="zh-TW" sz="1200" kern="100" dirty="0" err="1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val</a:t>
            </a:r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);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}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 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US" altLang="zh-TW" sz="1200" kern="100" dirty="0">
                <a:effectLst/>
                <a:latin typeface="Lucida Sans" panose="020B0602030504020204" pitchFamily="34" charset="0"/>
                <a:ea typeface="新細明體" panose="02020500000000000000" pitchFamily="18" charset="-120"/>
              </a:rPr>
              <a:t>void loop() { }</a:t>
            </a:r>
            <a:endParaRPr lang="zh-TW" altLang="zh-TW" sz="1200" kern="100" dirty="0">
              <a:effectLst/>
              <a:latin typeface="Lucida Sans" panose="020B0602030504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Oval 10244">
            <a:extLst>
              <a:ext uri="{FF2B5EF4-FFF2-40B4-BE49-F238E27FC236}">
                <a16:creationId xmlns:a16="http://schemas.microsoft.com/office/drawing/2014/main" id="{B4934732-84B8-AC0B-28B7-34D838D99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080" y="3401031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Text Box 10245">
            <a:extLst>
              <a:ext uri="{FF2B5EF4-FFF2-40B4-BE49-F238E27FC236}">
                <a16:creationId xmlns:a16="http://schemas.microsoft.com/office/drawing/2014/main" id="{29067A9A-9512-C67F-10A0-A8BFF2145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224" y="3545494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169581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884646-5363-47B2-AE10-6DE43294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動手做</a:t>
            </a:r>
            <a:r>
              <a:rPr lang="en-US" altLang="zh-TW" dirty="0"/>
              <a:t>14-5</a:t>
            </a:r>
            <a:r>
              <a:rPr lang="zh-TW" altLang="en-US" dirty="0"/>
              <a:t>：在</a:t>
            </a:r>
            <a:r>
              <a:rPr lang="en-US" altLang="zh-TW" dirty="0"/>
              <a:t>EEPROM</a:t>
            </a:r>
            <a:r>
              <a:rPr lang="zh-TW" altLang="en-US" dirty="0"/>
              <a:t>儲存陀螺儀偏移值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EABD53-6857-9632-9045-8A6FDC63F4B2}"/>
              </a:ext>
            </a:extLst>
          </p:cNvPr>
          <p:cNvSpPr/>
          <p:nvPr/>
        </p:nvSpPr>
        <p:spPr>
          <a:xfrm>
            <a:off x="309855" y="1893996"/>
            <a:ext cx="303364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在初次執行</a:t>
            </a:r>
            <a:r>
              <a:rPr lang="en-US" altLang="zh-TW" sz="1400" dirty="0"/>
              <a:t>IMU</a:t>
            </a:r>
            <a:r>
              <a:rPr lang="zh-TW" altLang="en-US" sz="1400" dirty="0"/>
              <a:t>程式或者將</a:t>
            </a:r>
            <a:r>
              <a:rPr lang="en-US" altLang="zh-TW" sz="1400" dirty="0"/>
              <a:t>13</a:t>
            </a:r>
            <a:r>
              <a:rPr lang="zh-TW" altLang="en-US" sz="1400" dirty="0"/>
              <a:t>腳接地時，執行</a:t>
            </a:r>
            <a:r>
              <a:rPr lang="en-US" altLang="zh-TW" sz="1400" dirty="0"/>
              <a:t>IMU</a:t>
            </a:r>
            <a:r>
              <a:rPr lang="zh-TW" altLang="en-US" sz="1400" dirty="0"/>
              <a:t>校正模式，然後把陀螺儀的</a:t>
            </a:r>
            <a:r>
              <a:rPr lang="en-US" altLang="zh-TW" sz="1400" dirty="0"/>
              <a:t>X, Y, Z</a:t>
            </a:r>
            <a:r>
              <a:rPr lang="zh-TW" altLang="en-US" sz="1400" dirty="0"/>
              <a:t>軸偏移值寫入</a:t>
            </a:r>
            <a:r>
              <a:rPr lang="en-US" altLang="zh-TW" sz="1400" dirty="0"/>
              <a:t>EEPROM</a:t>
            </a:r>
            <a:r>
              <a:rPr lang="zh-TW" altLang="en-US" sz="1400" dirty="0"/>
              <a:t>。日後，程式將自動讀取並套用存在</a:t>
            </a:r>
            <a:r>
              <a:rPr lang="en-US" altLang="zh-TW" sz="1400" dirty="0"/>
              <a:t>EEPROM</a:t>
            </a:r>
            <a:r>
              <a:rPr lang="zh-TW" altLang="en-US" sz="1400" dirty="0"/>
              <a:t>的偏移值。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BBD7231-FF87-2746-D597-3F2DFD6BB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899" y="1902250"/>
            <a:ext cx="2952328" cy="138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8398E84F-9D64-1338-999A-640B4CD54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089" y="4005064"/>
            <a:ext cx="5355171" cy="249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10244">
            <a:extLst>
              <a:ext uri="{FF2B5EF4-FFF2-40B4-BE49-F238E27FC236}">
                <a16:creationId xmlns:a16="http://schemas.microsoft.com/office/drawing/2014/main" id="{7938B29B-B32B-371A-EF0F-807644BE0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54" y="5516338"/>
            <a:ext cx="863600" cy="863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" name="Text Box 10245">
            <a:extLst>
              <a:ext uri="{FF2B5EF4-FFF2-40B4-BE49-F238E27FC236}">
                <a16:creationId xmlns:a16="http://schemas.microsoft.com/office/drawing/2014/main" id="{E79DA106-4E67-7A37-6E98-AA900872E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98" y="5660801"/>
            <a:ext cx="8370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14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416523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_2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_2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Pages>0</Pages>
  <Words>1838</Words>
  <Characters>0</Characters>
  <Application>Microsoft Office PowerPoint</Application>
  <PresentationFormat>如螢幕大小 (4:3)</PresentationFormat>
  <Lines>0</Lines>
  <Paragraphs>212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22</vt:i4>
      </vt:variant>
    </vt:vector>
  </HeadingPairs>
  <TitlesOfParts>
    <vt:vector size="32" baseType="lpstr">
      <vt:lpstr>微軟正黑體</vt:lpstr>
      <vt:lpstr>新細明體</vt:lpstr>
      <vt:lpstr>Arial</vt:lpstr>
      <vt:lpstr>Courier New</vt:lpstr>
      <vt:lpstr>Lucida Sans</vt:lpstr>
      <vt:lpstr>Times New Roman</vt:lpstr>
      <vt:lpstr>Wingdings</vt:lpstr>
      <vt:lpstr>Custom Design</vt:lpstr>
      <vt:lpstr>Custom Design_2</vt:lpstr>
      <vt:lpstr>1_Custom Design</vt:lpstr>
      <vt:lpstr>PowerPoint 簡報</vt:lpstr>
      <vt:lpstr>第十四章 伺服馬達、數位濾波、資料排序、EEPROM與體感控制機械雲台</vt:lpstr>
      <vt:lpstr>認識伺服馬達</vt:lpstr>
      <vt:lpstr>控制伺服馬達的PWM訊號</vt:lpstr>
      <vt:lpstr>控制伺服馬達的Servo類別</vt:lpstr>
      <vt:lpstr>吃錢幣存錢筒（一）</vt:lpstr>
      <vt:lpstr>吃錢幣存錢筒（二）</vt:lpstr>
      <vt:lpstr>自製伺服馬達雲台（一）</vt:lpstr>
      <vt:lpstr>自製伺服馬達雲台（二）</vt:lpstr>
      <vt:lpstr>簡易數位濾波以及 資料排序演算法</vt:lpstr>
      <vt:lpstr>氣泡排序原理與實作（一）</vt:lpstr>
      <vt:lpstr>氣泡排序原理與實作（二）</vt:lpstr>
      <vt:lpstr>快速排序原理與實作</vt:lpstr>
      <vt:lpstr>加入數位濾波的伺服馬達雲台程式</vt:lpstr>
      <vt:lpstr>使用陀螺儀和加速度計模組控制伺服馬達雲台</vt:lpstr>
      <vt:lpstr>認識MPU-6050陀螺儀和加速度感測器模組</vt:lpstr>
      <vt:lpstr>從陀螺儀和加速度計 取得角度</vt:lpstr>
      <vt:lpstr>安裝MPU-6050程式庫</vt:lpstr>
      <vt:lpstr>讀取IMU數據</vt:lpstr>
      <vt:lpstr>透過「序列埠繪圖家」 呈現訊號波型</vt:lpstr>
      <vt:lpstr>存取EEPROM記憶體</vt:lpstr>
      <vt:lpstr>動手做14-5：在EEPROM儲存陀螺儀偏移值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第十三章 伺服馬達、數位濾波、_x000b_資料排序與體感控制機械雲台</dc:title>
  <dc:subject/>
  <dc:creator>趙英傑</dc:creator>
  <cp:keywords/>
  <dc:description/>
  <cp:lastModifiedBy>Ying-Chieh Chao</cp:lastModifiedBy>
  <cp:revision>77</cp:revision>
  <dcterms:created xsi:type="dcterms:W3CDTF">2013-06-02T22:45:21Z</dcterms:created>
  <dcterms:modified xsi:type="dcterms:W3CDTF">2024-12-18T06:44:53Z</dcterms:modified>
  <cp:category>超圖解Arduino互動設計入門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