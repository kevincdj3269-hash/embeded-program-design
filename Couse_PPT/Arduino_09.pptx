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8" r:id="rId3"/>
  </p:sldMasterIdLst>
  <p:sldIdLst>
    <p:sldId id="256" r:id="rId4"/>
    <p:sldId id="277" r:id="rId5"/>
    <p:sldId id="261" r:id="rId6"/>
    <p:sldId id="262" r:id="rId7"/>
    <p:sldId id="263" r:id="rId8"/>
    <p:sldId id="278" r:id="rId9"/>
    <p:sldId id="281" r:id="rId10"/>
    <p:sldId id="283" r:id="rId11"/>
    <p:sldId id="284" r:id="rId12"/>
    <p:sldId id="285" r:id="rId13"/>
    <p:sldId id="286" r:id="rId14"/>
    <p:sldId id="264" r:id="rId15"/>
    <p:sldId id="265" r:id="rId16"/>
    <p:sldId id="266" r:id="rId17"/>
    <p:sldId id="282" r:id="rId18"/>
    <p:sldId id="280" r:id="rId19"/>
    <p:sldId id="287" r:id="rId20"/>
    <p:sldId id="270" r:id="rId21"/>
    <p:sldId id="288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C7083F7-AD74-446E-A509-62D9CD217B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155D083-4C63-4A5F-AC01-9B2B32E6EB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EC323B-5242-43EA-A2A2-E38C6AA127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74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54F6CA9-C3E9-4819-B5A6-E6F2CC231F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DBF6AA69-2829-4828-9F4B-96AD8BFEE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67DE2-4AAC-4948-AA48-BE99763025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17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4A4F667-0C12-4684-A5D3-D14F0C7BCE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96CCEA73-3216-4490-A481-E696784EA7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A8F9F-6ABD-4A25-97EA-3C2DE81780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90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E3695BDE-E35B-4B87-8E71-74A33DE787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65960E22-3DE8-4E9F-B718-EBC896912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1221F7-6237-4AAD-8784-972678C8A0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00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FDA71DB6-789A-41AD-9096-3DB901BE5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0B9596BD-94D6-43E3-9044-998720287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ABA920-F5C9-4BBF-A331-DD5ABFFE48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80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653150B7-8EAC-4786-91EF-1537DFE851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33BD5B7C-1129-42EE-B186-33D8E7FB0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476157-D799-4DA4-AA85-7D2CEE3545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97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99691B9C-7636-4580-99A0-14DEF2451A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98A8E279-BFE6-485B-B8AA-45202F3A5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278B4B-D434-48DF-A60C-F04948B4EC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846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4CAAC754-1B61-4A88-A12D-591F521A97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6F4D2D96-B640-435B-B533-19A1C956D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A1CD87-F97B-4075-A5FD-6490F186A6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352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B1196EF-BB4E-435C-97A3-D190CDD3EB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57B48CB-55A7-41EA-873C-7547B78DA0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06292-072B-4A81-A69C-5CB5D516E7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767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69D3EE9A-BD87-4925-9F3D-D524E4EF95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5D1D6B7F-3AFC-4F93-90F6-6F414A9FF2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00805-B74A-4A59-9305-3029183FB7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01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9CA6659E-66CF-4F30-8D80-D15330455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5F26FA1-4E4F-45E8-B3A5-410A49D7D6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0F4EB5-DF93-427D-9D9E-480C0EBC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774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3770FA68-BA99-415B-92E0-30BC6ED0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CA0528C0-6171-41BC-9AEA-13A8A98C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2349E03A-7C0F-414D-A5CE-69C7054B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AFB74-9778-40CB-A9DE-E3AC91010F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41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DF296F13-C404-41F1-A9DC-286FD5B9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39F3ABBE-2DC4-4055-ADB6-91DB45DE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E0FBFDF6-473E-4714-8C41-386CC75D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1AFE7D-FABE-47E4-823C-DFB36FA7A7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38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A60C832B-A069-41C5-B0BE-EAA7A0DCF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B99EF836-8592-4E52-B893-1034F438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57F5BE4-A822-4FD8-84F9-EF395B26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1B67DB-C96E-4AFE-801D-F207588F80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96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47B7CD46-DE50-47B6-8DF5-416D8180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B445A595-8F21-492D-9DE1-36E5B300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2BDA9E9-E272-4B1F-B6E1-CE9786D8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FEFFA4-E9E2-48B9-8B6F-46BB3AB12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98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BD829A60-E16B-4009-BE3F-BDFD8B67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82165413-FEDF-43EE-84F0-CA88EB97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5208EFFD-7A70-40F6-8FF4-E34D49A5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084CF9-0299-49F6-A324-C7EF2A6E05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63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E9CB9921-B104-40AE-A089-E6DA79DE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46C5B6BF-D159-475F-A892-8A7EA8D3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4DA703DF-0817-4380-98A2-EDCD5222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7A212B-5E10-4791-BCEB-7EDD34DFD3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23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08275CE7-3F43-4402-8688-E394C1F5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999DB255-0E9B-48D7-8121-9B9C7BA6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662ECFA9-80E4-4797-8C56-46BA6424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2B91B6-FE26-4C6C-82E8-E880AC4C55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13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AB3A468B-A51A-463E-8465-800ACCF9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EAAC6AE7-3A90-4B3E-A6DC-09E6837B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DB741595-C58B-4D41-83CF-F3EF723F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0A339-0FEF-41CC-9569-2741CB9E27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25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AE99D38B-263C-4949-B39E-C0F5A8F8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427CB694-6CB6-4F5C-A4B0-F263C164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335FC173-4BB6-46AD-839A-880F9606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697B4D-8EFB-4E9F-B795-AD1CDAF7EF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42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AC67587E-7DE3-4194-80CA-1E1307C0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936F1AA4-442E-4263-AF98-011CD59B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823BDD17-44C5-4B96-A65B-72DD7598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9E91D-3C8F-4EC7-BF3A-4340DB77F1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50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9A43D18F-3BA5-45DB-A200-FFCAF0C6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5BF74571-E1A6-41BD-86FE-3C36B44B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E372560-55D9-422F-A508-2655CA90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2D00C-CFB2-4909-A14F-ADF9A9D6D1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87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A08935DF-9F2A-45C0-B79E-81D96883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5D19EF73-E851-4C63-86BD-20853041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3919B91-C502-414E-A776-F77B1CC1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734FB-7F69-441D-824F-CBBBB4FFD7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80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F89B057E-FDC7-487F-9563-8D0E680BD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E549EF4-3C2A-4F36-9743-BEA481949F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81BA89-DE40-4FBF-BF1C-E4A70630ADF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517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B9B0784B-EA0F-4C4E-A925-7E8B7B02A9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B7249AC-6B86-418E-BF4E-8281937750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513EF-A28E-4944-A050-C6505E8899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02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5F0F2B1-D625-4DBC-BC8D-3E69C865A1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2A4BA041-2387-467E-A9E7-0AF1E93C71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5EE704-5602-44CF-B33C-3D0E2436D5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483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6DB16AFD-845E-4119-A9B8-3DE18F252C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7A0A1D3A-9F03-4116-9F10-94636398A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B401F-BFE6-4F08-9384-76490F864B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321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3913FF2B-6E71-4B40-A963-90EAB5D4C1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E8D3F2D8-C94B-4FBB-AFD7-4098DF8235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4C990-13E5-401C-891C-7208DE3DF9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145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893D7F87-7BFF-401C-8BE3-D44B181957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DD9A28C4-4ED0-48E8-B1C5-8E051E5D09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EB56E2-3D37-4865-A9ED-B4F020E171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01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45A3F00C-0CB4-45AD-BBD0-CDDA7357E4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EA16F4CD-2549-4220-BC6F-18D05A541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1E2527-BACD-4D94-ADCB-6E589D41F3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675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4CA35A4-0395-49E7-9042-AACFB74DDC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271917F-F2D7-4B8E-ABEB-A78A6BC4A4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D3A2D9-EFF7-43FF-88F2-9BFAFDBDEB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41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9418182-4FE1-4A04-B73B-97F97A2731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3E30C23C-69E4-4D7B-BF56-A1495795F3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D059C1-00C4-4F95-9579-74E8817ED2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666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1AACE126-B44F-4C69-BCE9-75765AA517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C5EBA0A-8D01-4F02-AF13-D0ADF33B1C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A48047-B95E-4A38-94DE-2FBE014B7B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93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5182A3C8-5317-452C-970D-704485FBB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28E69E3-4B99-4049-BEBA-B97AF85112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8789DE-C7E2-4F13-A0A4-3637B3311D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339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94A2B39-8265-9944-F37E-9EF6F4C2E3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20314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42D583C7-0C8F-4FC4-965E-B9D203184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0" y="1720850"/>
            <a:ext cx="4654550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B78F8C19-C70B-4210-9719-0B8D40788AC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9BC17EF0-7BA4-4D91-B3D0-10F0071FA91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55F2A457-5D5C-4624-BF37-4B34EF3C9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AE589D9C-51AA-45F7-9672-8F742DF76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82FC1D7-D7AC-42EA-81DF-9CD23C31871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1" r:id="rId2"/>
    <p:sldLayoutId id="2147483730" r:id="rId3"/>
    <p:sldLayoutId id="2147483729" r:id="rId4"/>
    <p:sldLayoutId id="2147483728" r:id="rId5"/>
    <p:sldLayoutId id="2147483727" r:id="rId6"/>
    <p:sldLayoutId id="2147483726" r:id="rId7"/>
    <p:sldLayoutId id="2147483725" r:id="rId8"/>
    <p:sldLayoutId id="2147483724" r:id="rId9"/>
    <p:sldLayoutId id="2147483723" r:id="rId10"/>
    <p:sldLayoutId id="214748372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5CA7F954-35E7-40EC-B7DA-27A617D7BB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892355D2-F99E-4B5B-802D-226A31672D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BBCA45F0-D08A-4F5F-8E1E-8D897ED5F8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B5E3A245-4C31-4964-9AD8-032D24696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F1259159-6DA9-4D49-8FF4-A5EB7B44D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AFC96754-0F42-47AE-AE67-2B4828FBF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C32EAB0C-E9D2-440B-A30D-6AD0CA4D8357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  <p:sldLayoutId id="2147483766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729AF82D-A712-4590-BC55-BB798F2E8C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B6353B80-E579-4DE1-95D3-641E1A1A9B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CE336A27-4AE5-4939-85D0-0E14C0DF8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7DE154EB-D617-425C-84E3-B9E6534D2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103AC24F-4C4A-46DD-A228-20636076D62A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A0DA3B8-FD1A-800D-8B09-7D003CBD08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3" r:id="rId2"/>
    <p:sldLayoutId id="2147483762" r:id="rId3"/>
    <p:sldLayoutId id="2147483761" r:id="rId4"/>
    <p:sldLayoutId id="2147483760" r:id="rId5"/>
    <p:sldLayoutId id="2147483759" r:id="rId6"/>
    <p:sldLayoutId id="2147483758" r:id="rId7"/>
    <p:sldLayoutId id="2147483757" r:id="rId8"/>
    <p:sldLayoutId id="2147483756" r:id="rId9"/>
    <p:sldLayoutId id="2147483755" r:id="rId10"/>
    <p:sldLayoutId id="2147483754" r:id="rId11"/>
    <p:sldLayoutId id="2147483765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FE6F88F5-0CA7-4B78-AD9A-F3189D580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第九章 </a:t>
            </a:r>
            <a:r>
              <a:rPr lang="en-US" altLang="zh-TW" dirty="0"/>
              <a:t>I</a:t>
            </a:r>
            <a:r>
              <a:rPr lang="en-US" altLang="zh-TW" baseline="30000" dirty="0"/>
              <a:t>2</a:t>
            </a:r>
            <a:r>
              <a:rPr lang="en-US" altLang="zh-TW" dirty="0"/>
              <a:t>C</a:t>
            </a:r>
            <a:r>
              <a:rPr lang="zh-TW" altLang="zh-TW" dirty="0"/>
              <a:t>序列通訊介面與</a:t>
            </a:r>
            <a:br>
              <a:rPr lang="en-US" altLang="zh-TW" dirty="0"/>
            </a:br>
            <a:r>
              <a:rPr lang="en-US" altLang="zh-TW" dirty="0"/>
              <a:t>LCD</a:t>
            </a:r>
            <a:r>
              <a:rPr lang="zh-TW" altLang="zh-TW" dirty="0"/>
              <a:t>顯示器</a:t>
            </a:r>
            <a:endParaRPr lang="zh-TW" altLang="en-US" sz="4000" dirty="0"/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0342388C-9C27-4543-9504-B24554AE0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19872" y="1700808"/>
            <a:ext cx="5266928" cy="4525963"/>
          </a:xfrm>
        </p:spPr>
        <p:txBody>
          <a:bodyPr/>
          <a:lstStyle/>
          <a:p>
            <a:r>
              <a:rPr lang="zh-CN" altLang="en-US" sz="2400" dirty="0"/>
              <a:t>HD44780相容的文字顯示器</a:t>
            </a:r>
            <a:endParaRPr lang="en-US" altLang="zh-CN" sz="2400" dirty="0"/>
          </a:p>
          <a:p>
            <a:r>
              <a:rPr lang="zh-TW" altLang="en-US" sz="2400" dirty="0"/>
              <a:t>並列連接 </a:t>
            </a:r>
            <a:r>
              <a:rPr lang="en-US" altLang="zh-TW" sz="2400" dirty="0"/>
              <a:t>LCD </a:t>
            </a:r>
            <a:r>
              <a:rPr lang="zh-TW" altLang="en-US" sz="2400" dirty="0"/>
              <a:t>顯示器</a:t>
            </a:r>
            <a:endParaRPr lang="en-US" altLang="zh-TW" sz="2400" dirty="0"/>
          </a:p>
          <a:p>
            <a:r>
              <a:rPr lang="zh-TW" altLang="en-US" sz="2400" dirty="0"/>
              <a:t>使用程式庫驅動 </a:t>
            </a:r>
            <a:r>
              <a:rPr lang="en-US" altLang="zh-TW" sz="2400" dirty="0"/>
              <a:t>LCD </a:t>
            </a:r>
            <a:r>
              <a:rPr lang="zh-TW" altLang="en-US" sz="2400" dirty="0"/>
              <a:t>顯示器</a:t>
            </a:r>
            <a:endParaRPr lang="zh-CN" altLang="en-US" sz="2400" dirty="0"/>
          </a:p>
          <a:p>
            <a:r>
              <a:rPr lang="zh-TW" altLang="en-US" sz="2400" dirty="0"/>
              <a:t>認識 </a:t>
            </a:r>
            <a:r>
              <a:rPr lang="en-US" altLang="zh-TW" sz="2400" dirty="0"/>
              <a:t>I2C </a:t>
            </a:r>
            <a:r>
              <a:rPr lang="zh-TW" altLang="en-US" sz="2400" dirty="0"/>
              <a:t>介面</a:t>
            </a:r>
          </a:p>
          <a:p>
            <a:r>
              <a:rPr lang="zh-TW" altLang="en-US" sz="2400" dirty="0"/>
              <a:t>比較 </a:t>
            </a:r>
            <a:r>
              <a:rPr lang="en-US" altLang="zh-TW" sz="2400" dirty="0"/>
              <a:t>I2C </a:t>
            </a:r>
            <a:r>
              <a:rPr lang="zh-TW" altLang="en-US" sz="2400" dirty="0"/>
              <a:t>與 </a:t>
            </a:r>
            <a:r>
              <a:rPr lang="en-US" altLang="zh-TW" sz="2400" dirty="0"/>
              <a:t>SPI </a:t>
            </a:r>
            <a:r>
              <a:rPr lang="zh-TW" altLang="en-US" sz="2400" dirty="0"/>
              <a:t>序列通信介面</a:t>
            </a:r>
            <a:endParaRPr lang="en-US" altLang="zh-TW" sz="2400" dirty="0"/>
          </a:p>
          <a:p>
            <a:r>
              <a:rPr lang="en-US" altLang="zh-TW" sz="2400" dirty="0"/>
              <a:t>I2C </a:t>
            </a:r>
            <a:r>
              <a:rPr lang="zh-TW" altLang="en-US" sz="2400" dirty="0"/>
              <a:t>序列連接 </a:t>
            </a:r>
            <a:r>
              <a:rPr lang="en-US" altLang="zh-TW" sz="2400" dirty="0"/>
              <a:t>LCD </a:t>
            </a:r>
            <a:r>
              <a:rPr lang="zh-TW" altLang="en-US" sz="2400" dirty="0"/>
              <a:t>顯示器</a:t>
            </a:r>
            <a:endParaRPr lang="en-US" altLang="zh-TW" sz="2400" dirty="0"/>
          </a:p>
          <a:p>
            <a:r>
              <a:rPr lang="zh-TW" altLang="en-US" sz="2400" dirty="0"/>
              <a:t>安裝第三方程式庫</a:t>
            </a:r>
            <a:endParaRPr lang="en-US" altLang="zh-TW" sz="2400" dirty="0"/>
          </a:p>
          <a:p>
            <a:r>
              <a:rPr lang="zh-TW" altLang="en-US" sz="2400" dirty="0"/>
              <a:t>掃描 </a:t>
            </a:r>
            <a:r>
              <a:rPr lang="en-US" altLang="zh-TW" sz="2400" dirty="0"/>
              <a:t>I2 C </a:t>
            </a:r>
            <a:r>
              <a:rPr lang="zh-TW" altLang="en-US" sz="2400" dirty="0"/>
              <a:t>匯流排連接的週邊位址</a:t>
            </a:r>
            <a:endParaRPr lang="en-US" altLang="zh-TW" sz="2400" dirty="0"/>
          </a:p>
          <a:p>
            <a:r>
              <a:rPr lang="en-US" altLang="zh-TW" sz="2400" dirty="0"/>
              <a:t>LCD </a:t>
            </a:r>
            <a:r>
              <a:rPr lang="zh-TW" altLang="en-US" sz="2400" dirty="0"/>
              <a:t>顯示器的特殊字元和自訂字元</a:t>
            </a:r>
            <a:endParaRPr lang="en-US" altLang="zh-TW" sz="2400" dirty="0"/>
          </a:p>
          <a:p>
            <a:r>
              <a:rPr lang="zh-TW" altLang="en-US" sz="2400" dirty="0"/>
              <a:t>透過 </a:t>
            </a:r>
            <a:r>
              <a:rPr lang="en-US" altLang="zh-TW" sz="2400" dirty="0"/>
              <a:t>I2C </a:t>
            </a:r>
            <a:r>
              <a:rPr lang="zh-TW" altLang="en-US" sz="2400" dirty="0"/>
              <a:t>介面串連兩個 </a:t>
            </a:r>
            <a:r>
              <a:rPr lang="en-US" altLang="zh-TW" sz="2400" dirty="0"/>
              <a:t>Arduino</a:t>
            </a:r>
            <a:r>
              <a:rPr lang="zh-TW" altLang="en-US" sz="2400" dirty="0"/>
              <a:t>板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8193">
            <a:extLst>
              <a:ext uri="{FF2B5EF4-FFF2-40B4-BE49-F238E27FC236}">
                <a16:creationId xmlns:a16="http://schemas.microsoft.com/office/drawing/2014/main" id="{4C4B6BE1-0E16-470F-9D39-2DAEC9F71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/>
              <a:t>HD44780相容的文字顯示器</a:t>
            </a:r>
          </a:p>
        </p:txBody>
      </p:sp>
      <p:sp>
        <p:nvSpPr>
          <p:cNvPr id="8194" name="Text Box 8196">
            <a:extLst>
              <a:ext uri="{FF2B5EF4-FFF2-40B4-BE49-F238E27FC236}">
                <a16:creationId xmlns:a16="http://schemas.microsoft.com/office/drawing/2014/main" id="{C932DEED-2CD5-4F06-8E6A-685003271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339850"/>
            <a:ext cx="650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HD44780相容的LCD顯示器共有14隻接腳（含背光，16腳）。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為了減少佔用處理器的接腳，通常採4位元連線。</a:t>
            </a:r>
          </a:p>
        </p:txBody>
      </p:sp>
      <p:sp>
        <p:nvSpPr>
          <p:cNvPr id="8195" name="Oval 8197">
            <a:extLst>
              <a:ext uri="{FF2B5EF4-FFF2-40B4-BE49-F238E27FC236}">
                <a16:creationId xmlns:a16="http://schemas.microsoft.com/office/drawing/2014/main" id="{C9DDDAB6-6F7C-4F18-841D-B007AB5C4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335597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6" name="Text Box 8198">
            <a:extLst>
              <a:ext uri="{FF2B5EF4-FFF2-40B4-BE49-F238E27FC236}">
                <a16:creationId xmlns:a16="http://schemas.microsoft.com/office/drawing/2014/main" id="{FF644075-2D4E-4354-B07C-1DDD6AFCA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1653" y="3502025"/>
            <a:ext cx="6543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-2</a:t>
            </a:r>
          </a:p>
        </p:txBody>
      </p:sp>
      <p:pic>
        <p:nvPicPr>
          <p:cNvPr id="8197" name="Picture 2" descr="lcd1">
            <a:extLst>
              <a:ext uri="{FF2B5EF4-FFF2-40B4-BE49-F238E27FC236}">
                <a16:creationId xmlns:a16="http://schemas.microsoft.com/office/drawing/2014/main" id="{3BBF9996-DC31-4D68-9ED6-9FC01BBE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963" y="4972050"/>
            <a:ext cx="27876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4">
            <a:extLst>
              <a:ext uri="{FF2B5EF4-FFF2-40B4-BE49-F238E27FC236}">
                <a16:creationId xmlns:a16="http://schemas.microsoft.com/office/drawing/2014/main" id="{0F2EA53C-DEB9-074B-B085-582749542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01" y="2420888"/>
            <a:ext cx="5257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9217" descr="uno">
            <a:extLst>
              <a:ext uri="{FF2B5EF4-FFF2-40B4-BE49-F238E27FC236}">
                <a16:creationId xmlns:a16="http://schemas.microsoft.com/office/drawing/2014/main" id="{D4EB2292-3DDB-4723-942C-47F3CF7F3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160463"/>
            <a:ext cx="6126163" cy="360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9218" descr="lcd5">
            <a:extLst>
              <a:ext uri="{FF2B5EF4-FFF2-40B4-BE49-F238E27FC236}">
                <a16:creationId xmlns:a16="http://schemas.microsoft.com/office/drawing/2014/main" id="{B2F63F8C-5092-49BD-B8E3-59521C791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3432175"/>
            <a:ext cx="363855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itle 9219">
            <a:extLst>
              <a:ext uri="{FF2B5EF4-FFF2-40B4-BE49-F238E27FC236}">
                <a16:creationId xmlns:a16="http://schemas.microsoft.com/office/drawing/2014/main" id="{5F2A8B2D-AF27-403A-B515-13CD1F82C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在LCD</a:t>
            </a:r>
            <a:r>
              <a:rPr lang="zh-TW" altLang="en-US"/>
              <a:t>上</a:t>
            </a:r>
            <a:r>
              <a:rPr lang="zh-CN" altLang="en-US"/>
              <a:t>顯示一段文字</a:t>
            </a:r>
          </a:p>
        </p:txBody>
      </p:sp>
      <p:sp>
        <p:nvSpPr>
          <p:cNvPr id="9220" name="Text Box 9220">
            <a:extLst>
              <a:ext uri="{FF2B5EF4-FFF2-40B4-BE49-F238E27FC236}">
                <a16:creationId xmlns:a16="http://schemas.microsoft.com/office/drawing/2014/main" id="{D423A737-15BC-4815-889B-2D587CCF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085184"/>
            <a:ext cx="496728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微軟正黑體" panose="020B0604030504040204" pitchFamily="34" charset="-120"/>
              </a:rPr>
              <a:t>在Arduino程式編輯器中，選擇</a:t>
            </a:r>
            <a:r>
              <a:rPr lang="zh-TW" altLang="en-US" dirty="0">
                <a:latin typeface="微軟正黑體" panose="020B0604030504040204" pitchFamily="34" charset="-120"/>
              </a:rPr>
              <a:t>：</a:t>
            </a:r>
          </a:p>
          <a:p>
            <a:r>
              <a:rPr lang="zh-CN" altLang="en-US" b="1" dirty="0">
                <a:latin typeface="微軟正黑體" panose="020B0604030504040204" pitchFamily="34" charset="-120"/>
              </a:rPr>
              <a:t>檔案→範例→LiquidCrystal→HelloWorld</a:t>
            </a:r>
          </a:p>
        </p:txBody>
      </p:sp>
      <p:sp>
        <p:nvSpPr>
          <p:cNvPr id="9221" name="Oval 9221">
            <a:extLst>
              <a:ext uri="{FF2B5EF4-FFF2-40B4-BE49-F238E27FC236}">
                <a16:creationId xmlns:a16="http://schemas.microsoft.com/office/drawing/2014/main" id="{82B1984A-5328-4AD8-992F-2C90837F8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184467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2" name="Text Box 9222">
            <a:extLst>
              <a:ext uri="{FF2B5EF4-FFF2-40B4-BE49-F238E27FC236}">
                <a16:creationId xmlns:a16="http://schemas.microsoft.com/office/drawing/2014/main" id="{BB6EAEB6-D02D-4322-B219-232E4297A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91" y="1989138"/>
            <a:ext cx="6463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1026" name="Picture 64">
            <a:extLst>
              <a:ext uri="{FF2B5EF4-FFF2-40B4-BE49-F238E27FC236}">
                <a16:creationId xmlns:a16="http://schemas.microsoft.com/office/drawing/2014/main" id="{F9F1B301-11AC-4F5B-9048-41A3F555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6165304"/>
            <a:ext cx="45910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0241">
            <a:extLst>
              <a:ext uri="{FF2B5EF4-FFF2-40B4-BE49-F238E27FC236}">
                <a16:creationId xmlns:a16="http://schemas.microsoft.com/office/drawing/2014/main" id="{05704DA7-5A32-48C6-8E0B-61C52FB70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LCD顯示器程式說明</a:t>
            </a:r>
            <a:r>
              <a:rPr lang="zh-TW" altLang="en-US" dirty="0"/>
              <a:t>（一）</a:t>
            </a:r>
            <a:endParaRPr lang="en-US" altLang="en-US" dirty="0"/>
          </a:p>
        </p:txBody>
      </p:sp>
      <p:sp>
        <p:nvSpPr>
          <p:cNvPr id="10244" name="Text Box 10244">
            <a:extLst>
              <a:ext uri="{FF2B5EF4-FFF2-40B4-BE49-F238E27FC236}">
                <a16:creationId xmlns:a16="http://schemas.microsoft.com/office/drawing/2014/main" id="{4071B332-EC41-4341-AB6B-B4D6D0ED6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377950"/>
            <a:ext cx="45354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控制LCD模組的程式庫："</a:t>
            </a:r>
            <a:r>
              <a:rPr lang="en-US" altLang="en-US" b="1">
                <a:latin typeface="微軟正黑體" panose="020B0604030504040204" pitchFamily="34" charset="-120"/>
              </a:rPr>
              <a:t>LiquidCrystal.h</a:t>
            </a:r>
            <a:r>
              <a:rPr lang="en-US" altLang="en-US">
                <a:latin typeface="微軟正黑體" panose="020B0604030504040204" pitchFamily="34" charset="-120"/>
              </a:rPr>
              <a:t>"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LCD程式庫使用</a:t>
            </a:r>
            <a:r>
              <a:rPr lang="en-US" altLang="en-US" b="1">
                <a:latin typeface="微軟正黑體" panose="020B0604030504040204" pitchFamily="34" charset="-120"/>
              </a:rPr>
              <a:t>print()函數</a:t>
            </a:r>
            <a:r>
              <a:rPr lang="en-US" altLang="en-US">
                <a:latin typeface="微軟正黑體" panose="020B0604030504040204" pitchFamily="34" charset="-120"/>
              </a:rPr>
              <a:t>輸出文字。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插入文字的位置，由</a:t>
            </a:r>
            <a:r>
              <a:rPr lang="en-US" altLang="en-US" b="1">
                <a:latin typeface="微軟正黑體" panose="020B0604030504040204" pitchFamily="34" charset="-120"/>
              </a:rPr>
              <a:t>游標（cursor）</a:t>
            </a:r>
            <a:r>
              <a:rPr lang="en-US" altLang="en-US">
                <a:latin typeface="微軟正黑體" panose="020B0604030504040204" pitchFamily="34" charset="-120"/>
              </a:rPr>
              <a:t>決定。</a:t>
            </a:r>
          </a:p>
        </p:txBody>
      </p:sp>
      <p:sp>
        <p:nvSpPr>
          <p:cNvPr id="10245" name="Oval 10245">
            <a:extLst>
              <a:ext uri="{FF2B5EF4-FFF2-40B4-BE49-F238E27FC236}">
                <a16:creationId xmlns:a16="http://schemas.microsoft.com/office/drawing/2014/main" id="{3BB0E80E-E6EA-4811-9B04-7E1F8ACE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170021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6" name="Text Box 10246">
            <a:extLst>
              <a:ext uri="{FF2B5EF4-FFF2-40B4-BE49-F238E27FC236}">
                <a16:creationId xmlns:a16="http://schemas.microsoft.com/office/drawing/2014/main" id="{99BDF0AC-A15E-40CA-8983-E6CDF9302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150" y="1844675"/>
            <a:ext cx="64135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7</a:t>
            </a:r>
          </a:p>
        </p:txBody>
      </p:sp>
      <p:pic>
        <p:nvPicPr>
          <p:cNvPr id="2050" name="Picture 8" descr="lcd7">
            <a:extLst>
              <a:ext uri="{FF2B5EF4-FFF2-40B4-BE49-F238E27FC236}">
                <a16:creationId xmlns:a16="http://schemas.microsoft.com/office/drawing/2014/main" id="{4D070D1D-7E76-4FDF-876D-FB9E5F4C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49" y="2708920"/>
            <a:ext cx="5541354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836DD9-1159-4445-BFAE-87FCD811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LCD顯示器程式說明</a:t>
            </a:r>
            <a:r>
              <a:rPr lang="zh-TW" altLang="en-US" dirty="0"/>
              <a:t>（二）</a:t>
            </a:r>
          </a:p>
        </p:txBody>
      </p:sp>
      <p:pic>
        <p:nvPicPr>
          <p:cNvPr id="3074" name="Picture 9" descr="lcd8">
            <a:extLst>
              <a:ext uri="{FF2B5EF4-FFF2-40B4-BE49-F238E27FC236}">
                <a16:creationId xmlns:a16="http://schemas.microsoft.com/office/drawing/2014/main" id="{A7D6AC7C-ACEF-4C55-9367-4967D9625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606" y="2234109"/>
            <a:ext cx="52768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0243">
            <a:extLst>
              <a:ext uri="{FF2B5EF4-FFF2-40B4-BE49-F238E27FC236}">
                <a16:creationId xmlns:a16="http://schemas.microsoft.com/office/drawing/2014/main" id="{4DC17589-A951-4C5A-A898-773EF79C1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294" y="1556792"/>
            <a:ext cx="79914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微軟正黑體" panose="020B0604030504040204" pitchFamily="34" charset="-120"/>
              </a:rPr>
              <a:t>顯示文字暫存在控制晶片的記憶體裡，記憶體保存一列40個字。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B817C7-2CB6-4B18-A7BB-BA93FDDE9E17}"/>
              </a:ext>
            </a:extLst>
          </p:cNvPr>
          <p:cNvSpPr/>
          <p:nvPr/>
        </p:nvSpPr>
        <p:spPr>
          <a:xfrm>
            <a:off x="1024855" y="3937708"/>
            <a:ext cx="5598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kern="100" dirty="0">
                <a:ea typeface="SimSun" panose="02010600030101010101" pitchFamily="2" charset="-122"/>
                <a:cs typeface="SimSun" panose="02010600030101010101" pitchFamily="2" charset="-122"/>
              </a:rPr>
              <a:t>重設游標位置再輸出，新的文字會蓋過之前的文字</a:t>
            </a:r>
            <a:r>
              <a:rPr lang="zh-TW" altLang="en-US" kern="100" dirty="0">
                <a:ea typeface="SimSun" panose="02010600030101010101" pitchFamily="2" charset="-122"/>
                <a:cs typeface="SimSun" panose="02010600030101010101" pitchFamily="2" charset="-122"/>
              </a:rPr>
              <a:t>：</a:t>
            </a:r>
            <a:endParaRPr lang="zh-TW" altLang="en-US" dirty="0"/>
          </a:p>
        </p:txBody>
      </p:sp>
      <p:sp>
        <p:nvSpPr>
          <p:cNvPr id="8" name="Oval 10245">
            <a:extLst>
              <a:ext uri="{FF2B5EF4-FFF2-40B4-BE49-F238E27FC236}">
                <a16:creationId xmlns:a16="http://schemas.microsoft.com/office/drawing/2014/main" id="{DE7A4542-420B-456B-ACC6-91290F909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606" y="336640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0246">
            <a:extLst>
              <a:ext uri="{FF2B5EF4-FFF2-40B4-BE49-F238E27FC236}">
                <a16:creationId xmlns:a16="http://schemas.microsoft.com/office/drawing/2014/main" id="{040D10A9-89DF-4FE2-9446-5EDDABE3C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206" y="3510863"/>
            <a:ext cx="64135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9E2081-D773-7E3E-E790-CC5E6A429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631339"/>
            <a:ext cx="4176464" cy="167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64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i1_4">
            <a:extLst>
              <a:ext uri="{FF2B5EF4-FFF2-40B4-BE49-F238E27FC236}">
                <a16:creationId xmlns:a16="http://schemas.microsoft.com/office/drawing/2014/main" id="{53B4AF9E-1081-4B59-AD8C-E8084E920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372100"/>
            <a:ext cx="22479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0" name="Title 13313">
            <a:extLst>
              <a:ext uri="{FF2B5EF4-FFF2-40B4-BE49-F238E27FC236}">
                <a16:creationId xmlns:a16="http://schemas.microsoft.com/office/drawing/2014/main" id="{581632BB-F11D-47ED-9773-230E94F14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認識</a:t>
            </a:r>
            <a:r>
              <a:rPr lang="en-US" altLang="zh-TW" dirty="0"/>
              <a:t>I</a:t>
            </a:r>
            <a:r>
              <a:rPr lang="en-US" altLang="zh-TW" baseline="30000" dirty="0"/>
              <a:t>2</a:t>
            </a:r>
            <a:r>
              <a:rPr lang="en-US" altLang="zh-TW" dirty="0"/>
              <a:t>C</a:t>
            </a:r>
            <a:r>
              <a:rPr lang="zh-TW" altLang="zh-TW" dirty="0"/>
              <a:t>介面</a:t>
            </a:r>
            <a:endParaRPr lang="en-US" altLang="en-US" dirty="0"/>
          </a:p>
        </p:txBody>
      </p:sp>
      <p:graphicFrame>
        <p:nvGraphicFramePr>
          <p:cNvPr id="13315" name="Table Placeholder 13314">
            <a:extLst>
              <a:ext uri="{FF2B5EF4-FFF2-40B4-BE49-F238E27FC236}">
                <a16:creationId xmlns:a16="http://schemas.microsoft.com/office/drawing/2014/main" id="{FB53D022-9C71-434E-9F7A-E15EEFA471FF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3060700" y="3200400"/>
          <a:ext cx="5770563" cy="3677179"/>
        </p:xfrm>
        <a:graphic>
          <a:graphicData uri="http://schemas.openxmlformats.org/drawingml/2006/table">
            <a:tbl>
              <a:tblPr/>
              <a:tblGrid>
                <a:gridCol w="183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07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介面名稱</a:t>
                      </a:r>
                      <a:endParaRPr lang="en-US" sz="1000" b="1" u="none">
                        <a:latin typeface="新細明體" panose="02020500000000000000" charset="-120"/>
                        <a:sym typeface="新細明體" panose="02020500000000000000" charset="-120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sym typeface="SimSun" panose="02010600030101010101" pitchFamily="2" charset="-122"/>
                        </a:rPr>
                        <a:t>I</a:t>
                      </a:r>
                      <a:r>
                        <a:rPr sz="1000" b="1" u="none" baseline="30000">
                          <a:sym typeface="SimSun" panose="02010600030101010101" pitchFamily="2" charset="-122"/>
                        </a:rPr>
                        <a:t>2</a:t>
                      </a:r>
                      <a:r>
                        <a:rPr sz="1000" b="1" u="none">
                          <a:sym typeface="SimSun" panose="02010600030101010101" pitchFamily="2" charset="-122"/>
                        </a:rPr>
                        <a:t>C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sym typeface="SimSun" panose="02010600030101010101" pitchFamily="2" charset="-122"/>
                        </a:rPr>
                        <a:t>SPI</a:t>
                      </a:r>
                      <a:endParaRPr lang="en-US" sz="1000" b="1" u="none">
                        <a:sym typeface="SimSun" panose="02010600030101010101" pitchFamily="2" charset="-122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3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連接線數量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 panose="02010600030101010101" pitchFamily="2" charset="-122"/>
                        </a:rPr>
                        <a:t>2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條：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序列資料線（SDA）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序列時脈線（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SCL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4條：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資料輸入線（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MISO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資料輸出線（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MOSI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序列時脈線（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SCLK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晶片選擇線（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CS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85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主控端數量</a:t>
                      </a:r>
                      <a:endParaRPr lang="en-US" sz="1000" b="1" u="none">
                        <a:latin typeface="新細明體" panose="02020500000000000000" charset="-120"/>
                        <a:sym typeface="新細明體" panose="02020500000000000000" charset="-120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允許多個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只能一個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73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定址（選擇從端）方式</a:t>
                      </a:r>
                      <a:endParaRPr lang="en-US" sz="1000" b="1" u="none">
                        <a:latin typeface="新細明體" panose="02020500000000000000" charset="-120"/>
                        <a:sym typeface="新細明體" panose="02020500000000000000" charset="-120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毎個從端都有個唯一的地址編號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從端沒有位址，透過「晶片選擇線」選取。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7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SimSun" panose="02010600030101010101" pitchFamily="2" charset="-122"/>
                          <a:sym typeface="SimSun" panose="02010600030101010101" pitchFamily="2" charset="-122"/>
                        </a:rPr>
                        <a:t>同時雙向通訊</a:t>
                      </a: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（全雙工）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 panose="02010600030101010101" pitchFamily="2" charset="-122"/>
                        </a:rPr>
                        <a:t>否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可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56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連線速率</a:t>
                      </a:r>
                      <a:endParaRPr lang="en-US" sz="1000" b="1" u="none">
                        <a:latin typeface="新細明體" panose="02020500000000000000" charset="-120"/>
                        <a:sym typeface="新細明體" panose="02020500000000000000" charset="-120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 panose="02010600030101010101" pitchFamily="2" charset="-122"/>
                        </a:rPr>
                        <a:t>100k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bps標準（standard）模式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400Kbps快速（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fast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）模式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3.4Mbps高速（</a:t>
                      </a:r>
                      <a:r>
                        <a:rPr sz="1000" b="1" u="none">
                          <a:latin typeface="Times New Roman" panose="02020603050405020304" pitchFamily="2" charset="0"/>
                          <a:ea typeface="Times New Roman" panose="02020603050405020304" pitchFamily="2" charset="0"/>
                          <a:sym typeface="Times New Roman" panose="02020603050405020304" pitchFamily="2" charset="0"/>
                        </a:rPr>
                        <a:t>high speed</a:t>
                      </a: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）模式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1~100Mbps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67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sym typeface="新細明體" panose="02020500000000000000" charset="-120"/>
                        </a:rPr>
                        <a:t>確認機制</a:t>
                      </a:r>
                      <a:endParaRPr lang="en-US" sz="1000" b="1" u="none">
                        <a:latin typeface="新細明體" panose="02020500000000000000" charset="-120"/>
                        <a:sym typeface="新細明體" panose="02020500000000000000" charset="-120"/>
                      </a:endParaRPr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有（亦即，收到資料時，發出通知確認）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u="none" kern="1200" baseline="0">
                          <a:solidFill>
                            <a:schemeClr val="tx1"/>
                          </a:solidFill>
                          <a:latin typeface="微軟正黑體" panose="020B0604030504040204" charset="-120"/>
                          <a:ea typeface="微軟正黑體" panose="020B0604030504040204" charset="-120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sz="1000" b="1" u="none">
                          <a:latin typeface="新細明體" panose="02020500000000000000" charset="-120"/>
                          <a:ea typeface="新細明體" panose="02020500000000000000" charset="-120"/>
                          <a:sym typeface="新細明體" panose="02020500000000000000" charset="-120"/>
                        </a:rPr>
                        <a:t>無</a:t>
                      </a:r>
                      <a:endParaRPr lang="en-US" sz="2300"/>
                    </a:p>
                  </a:txBody>
                  <a:tcPr marT="36767" marB="36767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326" name="Text Box 13389">
            <a:extLst>
              <a:ext uri="{FF2B5EF4-FFF2-40B4-BE49-F238E27FC236}">
                <a16:creationId xmlns:a16="http://schemas.microsoft.com/office/drawing/2014/main" id="{D4584C50-E350-4272-81DD-401684F1D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412776"/>
            <a:ext cx="3429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TW" sz="1400" dirty="0"/>
              <a:t>I</a:t>
            </a:r>
            <a:r>
              <a:rPr lang="en-US" altLang="zh-TW" sz="1400" baseline="30000" dirty="0"/>
              <a:t>2</a:t>
            </a:r>
            <a:r>
              <a:rPr lang="en-US" altLang="zh-TW" sz="1400" dirty="0"/>
              <a:t>C</a:t>
            </a:r>
            <a:r>
              <a:rPr lang="zh-TW" altLang="zh-TW" sz="1400" dirty="0"/>
              <a:t>介面的原意是</a:t>
            </a:r>
            <a:r>
              <a:rPr lang="en-US" altLang="zh-TW" sz="1400" dirty="0"/>
              <a:t>"Inter IC"</a:t>
            </a:r>
            <a:r>
              <a:rPr lang="zh-TW" altLang="zh-TW" sz="1400" dirty="0"/>
              <a:t>，也就是「積體電路之間」的意思。</a:t>
            </a:r>
            <a:endParaRPr lang="en-US" altLang="zh-TW" sz="1400" dirty="0">
              <a:latin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</a:endParaRPr>
          </a:p>
          <a:p>
            <a:r>
              <a:rPr lang="zh-TW" altLang="en-US" sz="1400" dirty="0"/>
              <a:t>每個</a:t>
            </a:r>
            <a:r>
              <a:rPr lang="en-US" altLang="zh-TW" sz="1400" dirty="0"/>
              <a:t>I2C</a:t>
            </a:r>
            <a:r>
              <a:rPr lang="zh-TW" altLang="en-US" sz="1400" dirty="0"/>
              <a:t>從端都有一個唯一的位址編號。</a:t>
            </a:r>
            <a:endParaRPr lang="en-US" altLang="zh-TW" sz="1400" dirty="0"/>
          </a:p>
        </p:txBody>
      </p:sp>
      <p:sp>
        <p:nvSpPr>
          <p:cNvPr id="12327" name="Text Box 13390">
            <a:extLst>
              <a:ext uri="{FF2B5EF4-FFF2-40B4-BE49-F238E27FC236}">
                <a16:creationId xmlns:a16="http://schemas.microsoft.com/office/drawing/2014/main" id="{09A889DF-80F6-4AA8-9D9B-7C2200AB3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717925"/>
            <a:ext cx="23225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>
                <a:latin typeface="微軟正黑體" panose="020B0604030504040204" pitchFamily="34" charset="-120"/>
              </a:rPr>
              <a:t>I</a:t>
            </a:r>
            <a:r>
              <a:rPr lang="zh-CN" altLang="en-US" baseline="30000">
                <a:latin typeface="微軟正黑體" panose="020B0604030504040204" pitchFamily="34" charset="-120"/>
              </a:rPr>
              <a:t>2</a:t>
            </a:r>
            <a:r>
              <a:rPr lang="zh-CN" altLang="en-US">
                <a:latin typeface="微軟正黑體" panose="020B0604030504040204" pitchFamily="34" charset="-120"/>
              </a:rPr>
              <a:t>C</a:t>
            </a:r>
            <a:r>
              <a:rPr lang="zh-TW" altLang="en-US">
                <a:latin typeface="微軟正黑體" panose="020B0604030504040204" pitchFamily="34" charset="-120"/>
              </a:rPr>
              <a:t>與SPI界面比較：</a:t>
            </a:r>
            <a:endParaRPr lang="zh-CN" altLang="en-US">
              <a:latin typeface="微軟正黑體" panose="020B0604030504040204" pitchFamily="34" charset="-120"/>
            </a:endParaRPr>
          </a:p>
        </p:txBody>
      </p:sp>
      <p:sp>
        <p:nvSpPr>
          <p:cNvPr id="12328" name="Oval 13391">
            <a:extLst>
              <a:ext uri="{FF2B5EF4-FFF2-40B4-BE49-F238E27FC236}">
                <a16:creationId xmlns:a16="http://schemas.microsoft.com/office/drawing/2014/main" id="{DE43BD6D-CD20-4430-B151-6791065C7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44964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29" name="Text Box 13392">
            <a:extLst>
              <a:ext uri="{FF2B5EF4-FFF2-40B4-BE49-F238E27FC236}">
                <a16:creationId xmlns:a16="http://schemas.microsoft.com/office/drawing/2014/main" id="{21EFB0C5-E50C-4256-A8DA-30AFA3D4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09" y="4594111"/>
            <a:ext cx="6463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9-9</a:t>
            </a:r>
          </a:p>
        </p:txBody>
      </p:sp>
      <p:pic>
        <p:nvPicPr>
          <p:cNvPr id="4098" name="Picture 20" descr="c17">
            <a:extLst>
              <a:ext uri="{FF2B5EF4-FFF2-40B4-BE49-F238E27FC236}">
                <a16:creationId xmlns:a16="http://schemas.microsoft.com/office/drawing/2014/main" id="{BF6786C0-4432-4C90-A7E8-80C06070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267" y="1217563"/>
            <a:ext cx="520065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D1E2A-6AF6-4A96-B607-9C18EF6D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</a:t>
            </a:r>
            <a:r>
              <a:rPr lang="en-US" altLang="zh-TW" baseline="30000" dirty="0"/>
              <a:t>2</a:t>
            </a:r>
            <a:r>
              <a:rPr lang="en-US" altLang="zh-TW" dirty="0"/>
              <a:t>C</a:t>
            </a:r>
            <a:r>
              <a:rPr lang="zh-TW" altLang="zh-TW" dirty="0"/>
              <a:t>序列連接</a:t>
            </a:r>
            <a:r>
              <a:rPr lang="en-US" altLang="zh-TW" dirty="0"/>
              <a:t>LCD</a:t>
            </a:r>
            <a:r>
              <a:rPr lang="zh-TW" altLang="zh-TW" dirty="0"/>
              <a:t>顯示器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C77271-5A45-4A96-9AD4-E942F320101B}"/>
              </a:ext>
            </a:extLst>
          </p:cNvPr>
          <p:cNvSpPr/>
          <p:nvPr/>
        </p:nvSpPr>
        <p:spPr>
          <a:xfrm>
            <a:off x="323528" y="1628800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dirty="0"/>
              <a:t>PCF8574</a:t>
            </a:r>
            <a:r>
              <a:rPr lang="zh-TW" altLang="zh-TW" sz="1400" dirty="0"/>
              <a:t>是</a:t>
            </a:r>
            <a:r>
              <a:rPr lang="en-US" altLang="zh-TW" sz="1400" b="1" dirty="0"/>
              <a:t>I2C</a:t>
            </a:r>
            <a:r>
              <a:rPr lang="zh-TW" altLang="zh-TW" sz="1400" b="1" dirty="0"/>
              <a:t>序列埠轉</a:t>
            </a:r>
            <a:r>
              <a:rPr lang="en-US" altLang="zh-TW" sz="1400" b="1" dirty="0"/>
              <a:t>8</a:t>
            </a:r>
            <a:r>
              <a:rPr lang="zh-TW" altLang="zh-TW" sz="1400" b="1" dirty="0"/>
              <a:t>位元並列輸出∕入埠</a:t>
            </a:r>
            <a:r>
              <a:rPr lang="zh-TW" altLang="zh-TW" sz="1400" dirty="0"/>
              <a:t>的</a:t>
            </a:r>
            <a:r>
              <a:rPr lang="en-US" altLang="zh-TW" sz="1400" dirty="0"/>
              <a:t>IC</a:t>
            </a:r>
            <a:r>
              <a:rPr lang="zh-TW" altLang="zh-TW" sz="1400" dirty="0"/>
              <a:t>，它的位址可透過</a:t>
            </a:r>
            <a:r>
              <a:rPr lang="en-US" altLang="zh-TW" sz="1400" dirty="0"/>
              <a:t>A0~A2</a:t>
            </a:r>
            <a:r>
              <a:rPr lang="zh-TW" altLang="zh-TW" sz="1400" dirty="0"/>
              <a:t>腳設定，介於</a:t>
            </a:r>
            <a:r>
              <a:rPr lang="en-US" altLang="zh-TW" sz="1400" dirty="0"/>
              <a:t>20~27</a:t>
            </a:r>
            <a:r>
              <a:rPr lang="zh-TW" altLang="zh-TW" sz="1400" dirty="0"/>
              <a:t>之間。</a:t>
            </a:r>
          </a:p>
        </p:txBody>
      </p:sp>
      <p:pic>
        <p:nvPicPr>
          <p:cNvPr id="5122" name="Picture 10">
            <a:extLst>
              <a:ext uri="{FF2B5EF4-FFF2-40B4-BE49-F238E27FC236}">
                <a16:creationId xmlns:a16="http://schemas.microsoft.com/office/drawing/2014/main" id="{A23118CC-9B02-4EAE-AC93-C15E563A8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889" y="1585602"/>
            <a:ext cx="498157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4">
            <a:extLst>
              <a:ext uri="{FF2B5EF4-FFF2-40B4-BE49-F238E27FC236}">
                <a16:creationId xmlns:a16="http://schemas.microsoft.com/office/drawing/2014/main" id="{9B8B7A12-BFD5-40CD-91DB-1D56FE6C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284984"/>
            <a:ext cx="4828750" cy="3325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9C3388-9A44-4BD0-9A62-E4BE2BFB482D}"/>
              </a:ext>
            </a:extLst>
          </p:cNvPr>
          <p:cNvSpPr/>
          <p:nvPr/>
        </p:nvSpPr>
        <p:spPr>
          <a:xfrm>
            <a:off x="320440" y="3284984"/>
            <a:ext cx="302742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採用</a:t>
            </a:r>
            <a:r>
              <a:rPr lang="en-US" altLang="zh-TW" sz="1400" dirty="0"/>
              <a:t>PCF8574</a:t>
            </a:r>
            <a:r>
              <a:rPr lang="zh-TW" altLang="zh-TW" sz="1400" dirty="0"/>
              <a:t>的</a:t>
            </a:r>
            <a:r>
              <a:rPr lang="en-US" altLang="zh-TW" sz="1400" dirty="0"/>
              <a:t>I2C</a:t>
            </a:r>
            <a:r>
              <a:rPr lang="zh-TW" altLang="zh-TW" sz="1400" dirty="0"/>
              <a:t>液晶顯示器驅動模組</a:t>
            </a:r>
            <a:r>
              <a:rPr lang="zh-TW" altLang="en-US" sz="1400" dirty="0"/>
              <a:t>連接</a:t>
            </a:r>
            <a:r>
              <a:rPr lang="en-US" altLang="zh-TW" sz="1400" dirty="0"/>
              <a:t>LCD</a:t>
            </a:r>
            <a:r>
              <a:rPr lang="zh-TW" altLang="en-US" sz="1400" dirty="0"/>
              <a:t>和</a:t>
            </a:r>
            <a:r>
              <a:rPr lang="en-US" altLang="zh-TW" sz="1400" dirty="0"/>
              <a:t>Arduino</a:t>
            </a:r>
            <a:r>
              <a:rPr lang="zh-TW" altLang="en-US" sz="1400" dirty="0"/>
              <a:t>控制板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en-US" sz="1400" dirty="0"/>
              <a:t>此模組的</a:t>
            </a:r>
            <a:r>
              <a:rPr lang="en-US" altLang="zh-TW" sz="1400" dirty="0"/>
              <a:t>I2C</a:t>
            </a:r>
            <a:r>
              <a:rPr lang="zh-TW" altLang="en-US" sz="1400" dirty="0"/>
              <a:t>腳有接上拉電阻（</a:t>
            </a:r>
            <a:r>
              <a:rPr lang="en-US" altLang="zh-TW" sz="1400" dirty="0"/>
              <a:t>4.7KΩ</a:t>
            </a:r>
            <a:r>
              <a:rPr lang="zh-TW" altLang="en-US" sz="1400" dirty="0"/>
              <a:t>）</a:t>
            </a:r>
          </a:p>
        </p:txBody>
      </p:sp>
      <p:sp>
        <p:nvSpPr>
          <p:cNvPr id="7" name="Oval 10245">
            <a:extLst>
              <a:ext uri="{FF2B5EF4-FFF2-40B4-BE49-F238E27FC236}">
                <a16:creationId xmlns:a16="http://schemas.microsoft.com/office/drawing/2014/main" id="{CCBA635E-56F4-4971-9144-FBF9DB0A0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30" y="494025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6">
            <a:extLst>
              <a:ext uri="{FF2B5EF4-FFF2-40B4-BE49-F238E27FC236}">
                <a16:creationId xmlns:a16="http://schemas.microsoft.com/office/drawing/2014/main" id="{6E5DCA49-1654-4FE9-A2C3-AC2BF38CF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91" y="5084717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524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D625F-98C4-4065-B26B-972E3BDA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安裝第三方程式庫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66EBBE-B762-4991-B164-1DB63AB592D4}"/>
              </a:ext>
            </a:extLst>
          </p:cNvPr>
          <p:cNvSpPr/>
          <p:nvPr/>
        </p:nvSpPr>
        <p:spPr>
          <a:xfrm>
            <a:off x="395536" y="1518171"/>
            <a:ext cx="2664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點擊</a:t>
            </a:r>
            <a:r>
              <a:rPr lang="en-US" altLang="zh-TW" sz="1400" dirty="0"/>
              <a:t>Arduino IDE</a:t>
            </a:r>
            <a:r>
              <a:rPr lang="zh-TW" altLang="en-US" sz="1400" dirty="0"/>
              <a:t>左側面板的「程式庫」，即可搜尋“</a:t>
            </a:r>
            <a:r>
              <a:rPr lang="en-US" altLang="zh-TW" sz="1400" dirty="0"/>
              <a:t>8574“</a:t>
            </a:r>
            <a:r>
              <a:rPr lang="zh-TW" altLang="en-US" sz="1400" dirty="0"/>
              <a:t>，可找到跟 “</a:t>
            </a:r>
            <a:r>
              <a:rPr lang="en-US" altLang="zh-TW" sz="1400" dirty="0"/>
              <a:t>PCF8574“ IC</a:t>
            </a:r>
            <a:r>
              <a:rPr lang="zh-TW" altLang="en-US" sz="1400" dirty="0"/>
              <a:t>相關的許多程式庫。</a:t>
            </a:r>
          </a:p>
        </p:txBody>
      </p:sp>
      <p:sp>
        <p:nvSpPr>
          <p:cNvPr id="8" name="Oval 10245">
            <a:extLst>
              <a:ext uri="{FF2B5EF4-FFF2-40B4-BE49-F238E27FC236}">
                <a16:creationId xmlns:a16="http://schemas.microsoft.com/office/drawing/2014/main" id="{79CA2562-6214-4C93-B7DB-C51DE6578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350666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0246">
            <a:extLst>
              <a:ext uri="{FF2B5EF4-FFF2-40B4-BE49-F238E27FC236}">
                <a16:creationId xmlns:a16="http://schemas.microsoft.com/office/drawing/2014/main" id="{F0A81857-5836-403A-B855-698C7929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12" y="365112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AFA1A43-600C-F42E-C53D-CD2514155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215" y="1323314"/>
            <a:ext cx="5267325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0CF342AF-937B-39FB-24D7-5CB9D4836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939" y="3885742"/>
            <a:ext cx="5257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7DABD1D-54D0-46B8-5FAB-DDC46BB3AC08}"/>
              </a:ext>
            </a:extLst>
          </p:cNvPr>
          <p:cNvSpPr/>
          <p:nvPr/>
        </p:nvSpPr>
        <p:spPr>
          <a:xfrm>
            <a:off x="361438" y="5013176"/>
            <a:ext cx="2914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Arduino</a:t>
            </a:r>
            <a:r>
              <a:rPr lang="zh-TW" altLang="en-US" sz="1400" dirty="0"/>
              <a:t>的第三方程式庫預設存放在“文件</a:t>
            </a:r>
            <a:r>
              <a:rPr lang="en-US" altLang="zh-TW" sz="1400" dirty="0"/>
              <a:t>/Arduino/libraries”</a:t>
            </a:r>
            <a:r>
              <a:rPr lang="zh-TW" altLang="en-US" sz="1400" dirty="0"/>
              <a:t>路徑</a:t>
            </a:r>
          </a:p>
        </p:txBody>
      </p:sp>
    </p:spTree>
    <p:extLst>
      <p:ext uri="{BB962C8B-B14F-4D97-AF65-F5344CB8AC3E}">
        <p14:creationId xmlns:p14="http://schemas.microsoft.com/office/powerpoint/2010/main" val="373081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3A17E-D220-443B-9C67-3805C285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移植</a:t>
            </a:r>
            <a:r>
              <a:rPr lang="en-US" altLang="zh-TW" dirty="0"/>
              <a:t>LCD</a:t>
            </a:r>
            <a:r>
              <a:rPr lang="zh-TW" altLang="zh-TW" dirty="0"/>
              <a:t>模組程式</a:t>
            </a:r>
            <a:endParaRPr lang="zh-TW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B7B727F-F7D8-458F-96DC-A174D964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45" y="2456493"/>
            <a:ext cx="3486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DC8E2715-9345-4D99-846B-48BE2845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165" y="3652972"/>
            <a:ext cx="35528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C5B2712-98DE-467C-8546-68372B4E9920}"/>
              </a:ext>
            </a:extLst>
          </p:cNvPr>
          <p:cNvSpPr/>
          <p:nvPr/>
        </p:nvSpPr>
        <p:spPr>
          <a:xfrm>
            <a:off x="1331640" y="1588150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400" dirty="0" err="1"/>
              <a:t>LiquidCrystal</a:t>
            </a:r>
            <a:r>
              <a:rPr lang="zh-CN" altLang="zh-TW" sz="1400" dirty="0"/>
              <a:t>程式庫</a:t>
            </a:r>
            <a:r>
              <a:rPr lang="zh-TW" altLang="zh-TW" sz="1400" dirty="0"/>
              <a:t>裡的</a:t>
            </a:r>
            <a:r>
              <a:rPr lang="en-US" altLang="zh-TW" sz="1400" dirty="0"/>
              <a:t>LCD</a:t>
            </a:r>
            <a:r>
              <a:rPr lang="zh-TW" altLang="zh-TW" sz="1400" dirty="0"/>
              <a:t>控制函式名稱，和</a:t>
            </a:r>
            <a:r>
              <a:rPr lang="en-US" altLang="zh-TW" sz="1400" dirty="0"/>
              <a:t>Arduino</a:t>
            </a:r>
            <a:r>
              <a:rPr lang="zh-TW" altLang="zh-TW" sz="1400" dirty="0"/>
              <a:t>內建的</a:t>
            </a:r>
            <a:r>
              <a:rPr lang="en-US" altLang="zh-TW" sz="1400" dirty="0"/>
              <a:t>LCD</a:t>
            </a:r>
            <a:r>
              <a:rPr lang="zh-TW" altLang="zh-TW" sz="1400" dirty="0"/>
              <a:t>程式庫一致，因此之前撰寫的</a:t>
            </a:r>
            <a:r>
              <a:rPr lang="en-US" altLang="zh-TW" sz="1400" dirty="0"/>
              <a:t>LCD</a:t>
            </a:r>
            <a:r>
              <a:rPr lang="zh-TW" altLang="zh-TW" sz="1400" dirty="0"/>
              <a:t>程式只需要小幅修改，便可直接套用在</a:t>
            </a:r>
            <a:r>
              <a:rPr lang="en-US" altLang="zh-TW" sz="1400" dirty="0"/>
              <a:t>I2C</a:t>
            </a:r>
            <a:r>
              <a:rPr lang="zh-TW" altLang="zh-TW" sz="1400" dirty="0"/>
              <a:t>序列模組</a:t>
            </a:r>
            <a:r>
              <a:rPr lang="en-US" altLang="zh-TW" sz="1400" dirty="0"/>
              <a:t>LCD</a:t>
            </a:r>
            <a:r>
              <a:rPr lang="zh-TW" altLang="zh-TW" sz="1400" dirty="0"/>
              <a:t>。</a:t>
            </a:r>
            <a:endParaRPr lang="zh-TW" altLang="en-US" sz="1400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6F8D987E-8BFE-4469-BFD0-2683BE15A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45" y="5564589"/>
            <a:ext cx="33909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10245">
            <a:extLst>
              <a:ext uri="{FF2B5EF4-FFF2-40B4-BE49-F238E27FC236}">
                <a16:creationId xmlns:a16="http://schemas.microsoft.com/office/drawing/2014/main" id="{E966DAB7-AE55-40AD-A5C6-892454E0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78904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6">
            <a:extLst>
              <a:ext uri="{FF2B5EF4-FFF2-40B4-BE49-F238E27FC236}">
                <a16:creationId xmlns:a16="http://schemas.microsoft.com/office/drawing/2014/main" id="{A3E72C9E-0469-4354-AB0D-D3391EBA5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010" y="3933502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606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ACF37E-FC62-46F6-BF3F-BE8B4C49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掃描</a:t>
            </a:r>
            <a:r>
              <a:rPr lang="en-US" altLang="zh-TW" dirty="0"/>
              <a:t>I</a:t>
            </a:r>
            <a:r>
              <a:rPr lang="en-US" altLang="zh-TW" baseline="30000" dirty="0"/>
              <a:t>2</a:t>
            </a:r>
            <a:r>
              <a:rPr lang="en-US" altLang="zh-TW" dirty="0"/>
              <a:t>C</a:t>
            </a:r>
            <a:r>
              <a:rPr lang="zh-TW" altLang="zh-TW" dirty="0"/>
              <a:t>匯流排的週邊位址</a:t>
            </a:r>
            <a:endParaRPr lang="zh-TW" alt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E4E9463-2C54-437F-A871-08C686BD7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46" y="2282838"/>
            <a:ext cx="52768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BA8A574-1402-4FF2-92E3-E9CDD5456445}"/>
              </a:ext>
            </a:extLst>
          </p:cNvPr>
          <p:cNvSpPr/>
          <p:nvPr/>
        </p:nvSpPr>
        <p:spPr>
          <a:xfrm>
            <a:off x="1115616" y="1502109"/>
            <a:ext cx="43924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主控端</a:t>
            </a:r>
            <a:r>
              <a:rPr lang="zh-TW" altLang="zh-TW" sz="1400" dirty="0"/>
              <a:t>送出位址之後，該位址的週邊將回應低電位；若指定位址的週邊不存在，</a:t>
            </a:r>
            <a:r>
              <a:rPr lang="en-US" altLang="zh-TW" sz="1400" dirty="0"/>
              <a:t>SDA</a:t>
            </a:r>
            <a:r>
              <a:rPr lang="zh-TW" altLang="zh-TW" sz="1400" dirty="0"/>
              <a:t>將維持在高電位。</a:t>
            </a:r>
            <a:endParaRPr lang="zh-TW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1CB221-DCC7-41E1-B3CD-0074A49B2EEA}"/>
              </a:ext>
            </a:extLst>
          </p:cNvPr>
          <p:cNvSpPr/>
          <p:nvPr/>
        </p:nvSpPr>
        <p:spPr>
          <a:xfrm>
            <a:off x="1115616" y="4293096"/>
            <a:ext cx="61206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處理</a:t>
            </a:r>
            <a:r>
              <a:rPr lang="en-US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1400" b="1" kern="1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</a:t>
            </a:r>
            <a:r>
              <a:rPr lang="zh-TW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通訊的</a:t>
            </a:r>
            <a:r>
              <a:rPr lang="en-US" altLang="zh-TW" sz="1400" b="1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Wire.h</a:t>
            </a:r>
            <a:r>
              <a:rPr lang="zh-TW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程式庫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提供這些函式：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begin()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：初始化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1400" kern="1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序列通訊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setClock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：設定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1400" kern="1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的傳輸速率（單位：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Hz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）。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beginTransmission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：開始傳送位址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endTransmission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：結束傳送並釋出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1400" kern="1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匯流排。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available()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：傳回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1400" kern="100" baseline="30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匯流排傳入的資料位元組數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write()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：傳送資料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read()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：讀取資料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onReceive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：當週邊裝置收到主控端的資料時，觸發執行指定的函式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kern="1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onRequest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()</a:t>
            </a:r>
            <a:r>
              <a:rPr lang="zh-TW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：當收到來自主控端的資料請求時，觸發執行指定的函式。</a:t>
            </a:r>
            <a:endParaRPr lang="zh-TW" altLang="zh-TW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Oval 10245">
            <a:extLst>
              <a:ext uri="{FF2B5EF4-FFF2-40B4-BE49-F238E27FC236}">
                <a16:creationId xmlns:a16="http://schemas.microsoft.com/office/drawing/2014/main" id="{BC36F1C1-0A23-4FF4-9348-78465DE0B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5900" y="423992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10246">
            <a:extLst>
              <a:ext uri="{FF2B5EF4-FFF2-40B4-BE49-F238E27FC236}">
                <a16:creationId xmlns:a16="http://schemas.microsoft.com/office/drawing/2014/main" id="{63137327-0D32-4EAE-B5E6-D429DC560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560" y="438438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3394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1265">
            <a:extLst>
              <a:ext uri="{FF2B5EF4-FFF2-40B4-BE49-F238E27FC236}">
                <a16:creationId xmlns:a16="http://schemas.microsoft.com/office/drawing/2014/main" id="{3F6D038B-E2AE-40D3-8B58-2B7046C6E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LCD</a:t>
            </a:r>
            <a:r>
              <a:rPr lang="zh-TW" altLang="zh-TW" dirty="0"/>
              <a:t>顯示器的特殊字元和自訂字元</a:t>
            </a:r>
            <a:endParaRPr lang="en-US" altLang="en-US" sz="4000" dirty="0"/>
          </a:p>
        </p:txBody>
      </p:sp>
      <p:pic>
        <p:nvPicPr>
          <p:cNvPr id="11266" name="Picture 11266" descr="lcd7_1">
            <a:extLst>
              <a:ext uri="{FF2B5EF4-FFF2-40B4-BE49-F238E27FC236}">
                <a16:creationId xmlns:a16="http://schemas.microsoft.com/office/drawing/2014/main" id="{079A820A-3F20-4020-B8FF-AC544251E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654550"/>
            <a:ext cx="68199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11267" descr="lcd12">
            <a:extLst>
              <a:ext uri="{FF2B5EF4-FFF2-40B4-BE49-F238E27FC236}">
                <a16:creationId xmlns:a16="http://schemas.microsoft.com/office/drawing/2014/main" id="{6E60F747-EA41-4425-9083-985BAB45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1290811"/>
            <a:ext cx="64674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 Box 11268">
            <a:extLst>
              <a:ext uri="{FF2B5EF4-FFF2-40B4-BE49-F238E27FC236}">
                <a16:creationId xmlns:a16="http://schemas.microsoft.com/office/drawing/2014/main" id="{4EDDC279-F041-44D1-AAA1-A95FCFF1B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6" y="2420938"/>
            <a:ext cx="19256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dirty="0"/>
              <a:t>HD44780晶片的內建字體儲存在CGROM</a:t>
            </a:r>
          </a:p>
        </p:txBody>
      </p:sp>
      <p:sp>
        <p:nvSpPr>
          <p:cNvPr id="11269" name="Oval 11269">
            <a:extLst>
              <a:ext uri="{FF2B5EF4-FFF2-40B4-BE49-F238E27FC236}">
                <a16:creationId xmlns:a16="http://schemas.microsoft.com/office/drawing/2014/main" id="{C0C25371-8A90-4B7A-9849-D67577183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321151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0" name="Text Box 11270">
            <a:extLst>
              <a:ext uri="{FF2B5EF4-FFF2-40B4-BE49-F238E27FC236}">
                <a16:creationId xmlns:a16="http://schemas.microsoft.com/office/drawing/2014/main" id="{44BF81A2-44B1-4EE8-B0BE-23C115CD5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579" y="335597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9-21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2290">
            <a:extLst>
              <a:ext uri="{FF2B5EF4-FFF2-40B4-BE49-F238E27FC236}">
                <a16:creationId xmlns:a16="http://schemas.microsoft.com/office/drawing/2014/main" id="{B8EC498B-606C-484E-A8CB-AB6AFEA04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在LCD上顯示自訂字元符號</a:t>
            </a:r>
          </a:p>
        </p:txBody>
      </p:sp>
      <p:sp>
        <p:nvSpPr>
          <p:cNvPr id="12292" name="Text Box 12292">
            <a:extLst>
              <a:ext uri="{FF2B5EF4-FFF2-40B4-BE49-F238E27FC236}">
                <a16:creationId xmlns:a16="http://schemas.microsoft.com/office/drawing/2014/main" id="{0B09CD48-9965-4898-A304-DB884B6AF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572383"/>
            <a:ext cx="273699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 sz="1400" dirty="0"/>
              <a:t>HD44780的CGRAM記憶體，</a:t>
            </a:r>
          </a:p>
          <a:p>
            <a:r>
              <a:rPr lang="zh-CN" altLang="en-US" sz="1400" dirty="0"/>
              <a:t>可儲存8個自訂5×8字元。</a:t>
            </a:r>
          </a:p>
          <a:p>
            <a:endParaRPr lang="zh-CN" altLang="en-US" sz="1400" dirty="0"/>
          </a:p>
          <a:p>
            <a:r>
              <a:rPr lang="zh-CN" altLang="en-US" sz="1400" dirty="0"/>
              <a:t>createChar()函數</a:t>
            </a:r>
            <a:r>
              <a:rPr lang="zh-TW" altLang="en-US" sz="1400" dirty="0"/>
              <a:t>負責</a:t>
            </a:r>
            <a:r>
              <a:rPr lang="zh-CN" altLang="en-US" sz="1400" dirty="0"/>
              <a:t>將新字元載入LCD模組</a:t>
            </a:r>
            <a:r>
              <a:rPr lang="zh-TW" altLang="en-US" sz="1400" dirty="0"/>
              <a:t>。</a:t>
            </a:r>
            <a:endParaRPr lang="zh-CN" altLang="en-US" sz="1400" dirty="0"/>
          </a:p>
        </p:txBody>
      </p:sp>
      <p:sp>
        <p:nvSpPr>
          <p:cNvPr id="12293" name="Oval 12293">
            <a:extLst>
              <a:ext uri="{FF2B5EF4-FFF2-40B4-BE49-F238E27FC236}">
                <a16:creationId xmlns:a16="http://schemas.microsoft.com/office/drawing/2014/main" id="{C3B30623-9206-4B1C-A372-2AF783C5E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6" y="43624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Text Box 12294">
            <a:extLst>
              <a:ext uri="{FF2B5EF4-FFF2-40B4-BE49-F238E27FC236}">
                <a16:creationId xmlns:a16="http://schemas.microsoft.com/office/drawing/2014/main" id="{B4BBDA9E-60F0-45FA-AB0B-72F898673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698" y="450850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新細明體" panose="02020500000000000000" pitchFamily="18" charset="-120"/>
            </a:endParaRP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新細明體" panose="02020500000000000000" pitchFamily="18" charset="-120"/>
              </a:rPr>
              <a:t>9-23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15F57DA-7942-4813-AF4F-80BF2E0B9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362" y="1244600"/>
            <a:ext cx="43053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53DCBDDE-899C-4A92-9EC1-18F4038BB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591281"/>
            <a:ext cx="4808810" cy="3146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3313">
            <a:extLst>
              <a:ext uri="{FF2B5EF4-FFF2-40B4-BE49-F238E27FC236}">
                <a16:creationId xmlns:a16="http://schemas.microsoft.com/office/drawing/2014/main" id="{F17E8ACA-4C24-4791-A805-E30167364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自訂字元動畫</a:t>
            </a:r>
          </a:p>
        </p:txBody>
      </p:sp>
      <p:pic>
        <p:nvPicPr>
          <p:cNvPr id="13315" name="Picture 13315" descr="lcd17">
            <a:extLst>
              <a:ext uri="{FF2B5EF4-FFF2-40B4-BE49-F238E27FC236}">
                <a16:creationId xmlns:a16="http://schemas.microsoft.com/office/drawing/2014/main" id="{2F98A270-C5F1-4702-A04F-F9DB4D194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1414463"/>
            <a:ext cx="52197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 Box 13316">
            <a:extLst>
              <a:ext uri="{FF2B5EF4-FFF2-40B4-BE49-F238E27FC236}">
                <a16:creationId xmlns:a16="http://schemas.microsoft.com/office/drawing/2014/main" id="{C0E1C66E-2CCC-4127-9C5C-4BA849F8B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630363"/>
            <a:ext cx="20161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LCD模組最多可存放8個自訂字元</a:t>
            </a:r>
          </a:p>
        </p:txBody>
      </p:sp>
      <p:sp>
        <p:nvSpPr>
          <p:cNvPr id="13317" name="Text Box 13317">
            <a:extLst>
              <a:ext uri="{FF2B5EF4-FFF2-40B4-BE49-F238E27FC236}">
                <a16:creationId xmlns:a16="http://schemas.microsoft.com/office/drawing/2014/main" id="{F702CC5C-AB87-4DF9-9ED3-F0B0109B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4287838"/>
            <a:ext cx="50990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>
                <a:latin typeface="微軟正黑體" panose="020B0604030504040204" pitchFamily="34" charset="-120"/>
              </a:rPr>
              <a:t>透過二維陣列，把這6個自訂字元存入LCD模組</a:t>
            </a:r>
            <a:r>
              <a:rPr lang="zh-TW" altLang="en-US">
                <a:latin typeface="微軟正黑體" panose="020B0604030504040204" pitchFamily="34" charset="-120"/>
              </a:rPr>
              <a:t>：</a:t>
            </a:r>
          </a:p>
        </p:txBody>
      </p:sp>
      <p:sp>
        <p:nvSpPr>
          <p:cNvPr id="13318" name="Oval 13318">
            <a:extLst>
              <a:ext uri="{FF2B5EF4-FFF2-40B4-BE49-F238E27FC236}">
                <a16:creationId xmlns:a16="http://schemas.microsoft.com/office/drawing/2014/main" id="{D0C07FF6-AEF3-4C05-BCC9-2BC85E04A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702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Text Box 13319">
            <a:extLst>
              <a:ext uri="{FF2B5EF4-FFF2-40B4-BE49-F238E27FC236}">
                <a16:creationId xmlns:a16="http://schemas.microsoft.com/office/drawing/2014/main" id="{7C383CBC-2363-4A19-864E-87DD60DD0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48" y="32146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新細明體" panose="02020500000000000000" pitchFamily="18" charset="-120"/>
              </a:rPr>
              <a:t>9-24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C9B883E-698E-4C8B-A6AB-52D2D4424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808" y="5040518"/>
            <a:ext cx="52768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4337">
            <a:extLst>
              <a:ext uri="{FF2B5EF4-FFF2-40B4-BE49-F238E27FC236}">
                <a16:creationId xmlns:a16="http://schemas.microsoft.com/office/drawing/2014/main" id="{DF227E7E-A545-484D-8656-88D9ECC07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透過I</a:t>
            </a:r>
            <a:r>
              <a:rPr lang="en-US" altLang="en-US" sz="4000" baseline="30000"/>
              <a:t>2</a:t>
            </a:r>
            <a:r>
              <a:rPr lang="en-US" altLang="en-US" sz="4000"/>
              <a:t>C串連兩個Arduino板</a:t>
            </a:r>
          </a:p>
        </p:txBody>
      </p:sp>
      <p:pic>
        <p:nvPicPr>
          <p:cNvPr id="13314" name="Picture 14338" descr="i1_2">
            <a:extLst>
              <a:ext uri="{FF2B5EF4-FFF2-40B4-BE49-F238E27FC236}">
                <a16:creationId xmlns:a16="http://schemas.microsoft.com/office/drawing/2014/main" id="{CE6C9E4A-3990-4467-B9C1-6F963601F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3213100"/>
            <a:ext cx="519112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14339">
            <a:extLst>
              <a:ext uri="{FF2B5EF4-FFF2-40B4-BE49-F238E27FC236}">
                <a16:creationId xmlns:a16="http://schemas.microsoft.com/office/drawing/2014/main" id="{F1D72EED-FC8F-4540-96AF-1E0CAD2B3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97" y="1586925"/>
            <a:ext cx="3511178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dirty="0"/>
              <a:t>透過I2C通訊介面的連結兩塊Arduino，從一個板子發出文字訊息給另一個板子。</a:t>
            </a:r>
          </a:p>
          <a:p>
            <a:endParaRPr lang="en-US" altLang="en-US" sz="1400" dirty="0"/>
          </a:p>
          <a:p>
            <a:r>
              <a:rPr lang="en-US" altLang="en-US" sz="1400" dirty="0"/>
              <a:t>I2C</a:t>
            </a:r>
            <a:r>
              <a:rPr lang="zh-TW" altLang="en-US" sz="1400" dirty="0"/>
              <a:t>匯流排的上拉電阻值通常介於</a:t>
            </a:r>
            <a:r>
              <a:rPr lang="en-US" altLang="zh-TW" sz="1400" dirty="0"/>
              <a:t>1</a:t>
            </a:r>
            <a:r>
              <a:rPr lang="en-US" altLang="en-US" sz="1400" dirty="0"/>
              <a:t>K</a:t>
            </a:r>
            <a:r>
              <a:rPr lang="el-GR" altLang="en-US" sz="1400" dirty="0"/>
              <a:t>Ω~10</a:t>
            </a:r>
            <a:r>
              <a:rPr lang="en-US" altLang="en-US" sz="1400" dirty="0"/>
              <a:t>K</a:t>
            </a:r>
            <a:r>
              <a:rPr lang="el-GR" altLang="en-US" sz="1400" dirty="0"/>
              <a:t>Ω</a:t>
            </a:r>
            <a:endParaRPr lang="en-US" altLang="en-US" sz="1400" dirty="0"/>
          </a:p>
        </p:txBody>
      </p:sp>
      <p:sp>
        <p:nvSpPr>
          <p:cNvPr id="13316" name="Oval 14340">
            <a:extLst>
              <a:ext uri="{FF2B5EF4-FFF2-40B4-BE49-F238E27FC236}">
                <a16:creationId xmlns:a16="http://schemas.microsoft.com/office/drawing/2014/main" id="{D9190483-D4E6-4667-847C-0DEA99E3C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57848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Text Box 14341">
            <a:extLst>
              <a:ext uri="{FF2B5EF4-FFF2-40B4-BE49-F238E27FC236}">
                <a16:creationId xmlns:a16="http://schemas.microsoft.com/office/drawing/2014/main" id="{0B807B9F-381E-4F6A-8D1A-7CB31546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23" y="5929313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9-26</a:t>
            </a:r>
          </a:p>
        </p:txBody>
      </p:sp>
      <p:pic>
        <p:nvPicPr>
          <p:cNvPr id="13318" name="Picture 2" descr="i1_1">
            <a:extLst>
              <a:ext uri="{FF2B5EF4-FFF2-40B4-BE49-F238E27FC236}">
                <a16:creationId xmlns:a16="http://schemas.microsoft.com/office/drawing/2014/main" id="{434D18A0-B89F-4819-8CD6-F7ACFB8FA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1075" y="3155950"/>
            <a:ext cx="431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3" descr="i2">
            <a:extLst>
              <a:ext uri="{FF2B5EF4-FFF2-40B4-BE49-F238E27FC236}">
                <a16:creationId xmlns:a16="http://schemas.microsoft.com/office/drawing/2014/main" id="{DAC6D604-BEC8-45A6-9E65-83F1E2DB0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1339850"/>
            <a:ext cx="49784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5361">
            <a:extLst>
              <a:ext uri="{FF2B5EF4-FFF2-40B4-BE49-F238E27FC236}">
                <a16:creationId xmlns:a16="http://schemas.microsoft.com/office/drawing/2014/main" id="{E79C4D65-7090-45F8-9DA0-4734A7497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在I</a:t>
            </a:r>
            <a:r>
              <a:rPr lang="en-US" altLang="en-US" baseline="30000" dirty="0"/>
              <a:t>2</a:t>
            </a:r>
            <a:r>
              <a:rPr lang="en-US" altLang="en-US" dirty="0"/>
              <a:t>C介面上傳送整數資料</a:t>
            </a:r>
            <a:r>
              <a:rPr lang="en-US" altLang="zh-TW" dirty="0"/>
              <a:t>(V)</a:t>
            </a:r>
            <a:endParaRPr lang="en-US" altLang="en-US" dirty="0"/>
          </a:p>
        </p:txBody>
      </p:sp>
      <p:pic>
        <p:nvPicPr>
          <p:cNvPr id="14338" name="Picture 15362" descr="i6">
            <a:extLst>
              <a:ext uri="{FF2B5EF4-FFF2-40B4-BE49-F238E27FC236}">
                <a16:creationId xmlns:a16="http://schemas.microsoft.com/office/drawing/2014/main" id="{2D9AF36B-29DC-43F6-81F3-4B268935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781300"/>
            <a:ext cx="57054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15363">
            <a:extLst>
              <a:ext uri="{FF2B5EF4-FFF2-40B4-BE49-F238E27FC236}">
                <a16:creationId xmlns:a16="http://schemas.microsoft.com/office/drawing/2014/main" id="{DC33FA3C-7F20-430A-8D88-157F87F1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628775"/>
            <a:ext cx="6899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Wire程式庫的</a:t>
            </a:r>
            <a:r>
              <a:rPr lang="en-US" altLang="en-US" b="1">
                <a:latin typeface="微軟正黑體" panose="020B0604030504040204" pitchFamily="34" charset="-120"/>
              </a:rPr>
              <a:t>write()函數</a:t>
            </a:r>
            <a:r>
              <a:rPr lang="en-US" altLang="en-US">
                <a:latin typeface="微軟正黑體" panose="020B0604030504040204" pitchFamily="34" charset="-120"/>
              </a:rPr>
              <a:t>可傳送單一字元，或0~255範圍的整數。</a:t>
            </a:r>
          </a:p>
          <a:p>
            <a:r>
              <a:rPr lang="en-US" altLang="en-US">
                <a:latin typeface="微軟正黑體" panose="020B0604030504040204" pitchFamily="34" charset="-120"/>
              </a:rPr>
              <a:t>傳送0~1023數字的方法如下：</a:t>
            </a:r>
          </a:p>
        </p:txBody>
      </p:sp>
      <p:sp>
        <p:nvSpPr>
          <p:cNvPr id="14340" name="Oval 15364">
            <a:extLst>
              <a:ext uri="{FF2B5EF4-FFF2-40B4-BE49-F238E27FC236}">
                <a16:creationId xmlns:a16="http://schemas.microsoft.com/office/drawing/2014/main" id="{8C56ADED-C222-4050-B35F-AF207A9E3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49751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1" name="Text Box 15365">
            <a:extLst>
              <a:ext uri="{FF2B5EF4-FFF2-40B4-BE49-F238E27FC236}">
                <a16:creationId xmlns:a16="http://schemas.microsoft.com/office/drawing/2014/main" id="{2244E5EA-F972-49C0-BD74-8E5DD2C09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3" y="5641976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29</a:t>
            </a:r>
          </a:p>
        </p:txBody>
      </p:sp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D83E1F-BC83-44EA-8805-F42C7753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DHT11</a:t>
            </a:r>
            <a:r>
              <a:rPr lang="zh-TW" altLang="zh-TW" dirty="0"/>
              <a:t>的單線雙向</a:t>
            </a:r>
            <a:br>
              <a:rPr lang="en-US" altLang="zh-TW" dirty="0"/>
            </a:br>
            <a:r>
              <a:rPr lang="zh-TW" altLang="zh-TW" dirty="0"/>
              <a:t>通訊格式（</a:t>
            </a:r>
            <a:r>
              <a:rPr lang="en-US" altLang="zh-TW" dirty="0"/>
              <a:t>1-Wire</a:t>
            </a:r>
            <a:r>
              <a:rPr lang="zh-TW" altLang="zh-TW" dirty="0"/>
              <a:t>）</a:t>
            </a:r>
            <a:endParaRPr lang="zh-TW" altLang="en-US" dirty="0"/>
          </a:p>
        </p:txBody>
      </p:sp>
      <p:sp>
        <p:nvSpPr>
          <p:cNvPr id="4" name="Text Box 17412">
            <a:extLst>
              <a:ext uri="{FF2B5EF4-FFF2-40B4-BE49-F238E27FC236}">
                <a16:creationId xmlns:a16="http://schemas.microsoft.com/office/drawing/2014/main" id="{65FECF69-D199-4BC9-92DD-F5C1F9988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007374"/>
            <a:ext cx="2447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dirty="0"/>
              <a:t>DHT11是結合溫濕度感測器及訊號處理IC的感測模組</a:t>
            </a:r>
          </a:p>
        </p:txBody>
      </p:sp>
      <p:pic>
        <p:nvPicPr>
          <p:cNvPr id="5" name="Picture 1" descr="lcd26">
            <a:extLst>
              <a:ext uri="{FF2B5EF4-FFF2-40B4-BE49-F238E27FC236}">
                <a16:creationId xmlns:a16="http://schemas.microsoft.com/office/drawing/2014/main" id="{A77BA0F8-EAD3-4C9D-8C74-DE7C60FFF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484784"/>
            <a:ext cx="499745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B0C0FDD-176B-437C-8F23-8809DD68A57D}"/>
              </a:ext>
            </a:extLst>
          </p:cNvPr>
          <p:cNvSpPr/>
          <p:nvPr/>
        </p:nvSpPr>
        <p:spPr>
          <a:xfrm>
            <a:off x="170464" y="3600976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DHT11</a:t>
            </a:r>
            <a:r>
              <a:rPr lang="zh-TW" altLang="zh-TW" sz="1400" dirty="0"/>
              <a:t>感測器和微控器僅使用一條接線交換資料，稱為</a:t>
            </a:r>
            <a:r>
              <a:rPr lang="zh-TW" altLang="zh-TW" sz="1400" b="1" dirty="0"/>
              <a:t>單線序列介面（</a:t>
            </a:r>
            <a:r>
              <a:rPr lang="en-US" altLang="zh-TW" sz="1400" b="1" dirty="0"/>
              <a:t>1-Wire</a:t>
            </a:r>
            <a:r>
              <a:rPr lang="zh-TW" altLang="zh-TW" sz="1400" b="1" dirty="0"/>
              <a:t>）。</a:t>
            </a:r>
            <a:endParaRPr lang="zh-TW" altLang="en-US" sz="1400" b="1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0FC8ECB-DFB3-4F82-AF50-87F34F26D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045" y="3644303"/>
            <a:ext cx="5181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65BC4E6-489F-4A7F-BFA8-87A295F7E1EE}"/>
              </a:ext>
            </a:extLst>
          </p:cNvPr>
          <p:cNvSpPr/>
          <p:nvPr/>
        </p:nvSpPr>
        <p:spPr>
          <a:xfrm>
            <a:off x="1475656" y="5582507"/>
            <a:ext cx="26561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在「程式庫管理員」</a:t>
            </a:r>
            <a:r>
              <a:rPr lang="zh-TW" altLang="zh-TW" sz="1400" dirty="0"/>
              <a:t>搜尋</a:t>
            </a:r>
            <a:r>
              <a:rPr lang="en-US" altLang="zh-TW" sz="1400" dirty="0"/>
              <a:t>dht11</a:t>
            </a:r>
            <a:r>
              <a:rPr lang="zh-TW" altLang="zh-TW" sz="1400" dirty="0"/>
              <a:t>關鍵字，下載底下這個程式庫：</a:t>
            </a:r>
            <a:endParaRPr lang="zh-TW" altLang="en-US" sz="1400" dirty="0"/>
          </a:p>
        </p:txBody>
      </p:sp>
      <p:sp>
        <p:nvSpPr>
          <p:cNvPr id="10" name="Oval 10245">
            <a:extLst>
              <a:ext uri="{FF2B5EF4-FFF2-40B4-BE49-F238E27FC236}">
                <a16:creationId xmlns:a16="http://schemas.microsoft.com/office/drawing/2014/main" id="{FC3000C6-1595-4569-9F19-3BF558448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78" y="580481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" name="Text Box 10246">
            <a:extLst>
              <a:ext uri="{FF2B5EF4-FFF2-40B4-BE49-F238E27FC236}">
                <a16:creationId xmlns:a16="http://schemas.microsoft.com/office/drawing/2014/main" id="{5A1B2FE7-0793-4A62-9DA0-563544FDA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538" y="594928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D2477A1-1D4E-AA0E-B26F-E1F539762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644658"/>
            <a:ext cx="3632967" cy="2132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0477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7410">
            <a:extLst>
              <a:ext uri="{FF2B5EF4-FFF2-40B4-BE49-F238E27FC236}">
                <a16:creationId xmlns:a16="http://schemas.microsoft.com/office/drawing/2014/main" id="{AD020DA6-2891-48EA-A09C-9C07307D3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數位溫濕度感測器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4723836A-AF7E-4841-B88F-714163A66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378" y="1553153"/>
            <a:ext cx="52673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0" descr="lcd32">
            <a:extLst>
              <a:ext uri="{FF2B5EF4-FFF2-40B4-BE49-F238E27FC236}">
                <a16:creationId xmlns:a16="http://schemas.microsoft.com/office/drawing/2014/main" id="{641FEB04-EB65-4B1A-9993-8AE4FF6D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853" y="3997629"/>
            <a:ext cx="527685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AAB7C87-7427-4DAD-9742-7DAE15EF998A}"/>
              </a:ext>
            </a:extLst>
          </p:cNvPr>
          <p:cNvSpPr/>
          <p:nvPr/>
        </p:nvSpPr>
        <p:spPr>
          <a:xfrm>
            <a:off x="107504" y="4020146"/>
            <a:ext cx="31818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在</a:t>
            </a:r>
            <a:r>
              <a:rPr lang="en-US" altLang="zh-TW" sz="1400" dirty="0"/>
              <a:t>16</a:t>
            </a:r>
            <a:r>
              <a:rPr lang="zh-TW" altLang="zh-TW" sz="1400" dirty="0"/>
              <a:t>×</a:t>
            </a:r>
            <a:r>
              <a:rPr lang="en-US" altLang="zh-TW" sz="1400" dirty="0"/>
              <a:t>2 LCD</a:t>
            </a:r>
            <a:r>
              <a:rPr lang="zh-TW" altLang="en-US" sz="1400" dirty="0"/>
              <a:t>呈現</a:t>
            </a:r>
            <a:r>
              <a:rPr lang="zh-TW" altLang="zh-TW" sz="1400" dirty="0"/>
              <a:t>溫濕度值，圖裡的溫度（</a:t>
            </a:r>
            <a:r>
              <a:rPr lang="en-US" altLang="zh-TW" sz="1400" dirty="0"/>
              <a:t>20.50</a:t>
            </a:r>
            <a:r>
              <a:rPr lang="zh-TW" altLang="zh-TW" sz="1400" dirty="0"/>
              <a:t>）與濕度（</a:t>
            </a:r>
            <a:r>
              <a:rPr lang="en-US" altLang="zh-TW" sz="1400" dirty="0"/>
              <a:t>62.80</a:t>
            </a:r>
            <a:r>
              <a:rPr lang="zh-TW" altLang="zh-TW" sz="1400" dirty="0"/>
              <a:t>）是虛設的數值，需要在程式中替換成</a:t>
            </a:r>
            <a:r>
              <a:rPr lang="en-US" altLang="zh-TW" sz="1400" dirty="0"/>
              <a:t>DHT11</a:t>
            </a:r>
            <a:r>
              <a:rPr lang="zh-TW" altLang="zh-TW" sz="1400" dirty="0"/>
              <a:t>傳回的實際值。</a:t>
            </a:r>
            <a:endParaRPr lang="zh-TW" altLang="en-US" sz="1400" dirty="0"/>
          </a:p>
        </p:txBody>
      </p:sp>
      <p:sp>
        <p:nvSpPr>
          <p:cNvPr id="8" name="Oval 10245">
            <a:extLst>
              <a:ext uri="{FF2B5EF4-FFF2-40B4-BE49-F238E27FC236}">
                <a16:creationId xmlns:a16="http://schemas.microsoft.com/office/drawing/2014/main" id="{18319D1D-C32B-4A4C-827D-6E8ED73F8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50306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0246">
            <a:extLst>
              <a:ext uri="{FF2B5EF4-FFF2-40B4-BE49-F238E27FC236}">
                <a16:creationId xmlns:a16="http://schemas.microsoft.com/office/drawing/2014/main" id="{F09C6395-8717-4547-9E75-4207AD871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20" y="264753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34</a:t>
            </a:r>
          </a:p>
        </p:txBody>
      </p:sp>
    </p:spTree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5B2D-B535-D7B9-6F80-99D34ACD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7410">
            <a:extLst>
              <a:ext uri="{FF2B5EF4-FFF2-40B4-BE49-F238E27FC236}">
                <a16:creationId xmlns:a16="http://schemas.microsoft.com/office/drawing/2014/main" id="{AB084D0B-8BE3-1370-1F2E-10223B330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Qwiic</a:t>
            </a:r>
            <a:r>
              <a:rPr lang="zh-TW" altLang="en-US" dirty="0"/>
              <a:t>介面</a:t>
            </a:r>
            <a:endParaRPr lang="en-US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D225A4-865F-E8A6-1959-A1E7BC8EBD53}"/>
              </a:ext>
            </a:extLst>
          </p:cNvPr>
          <p:cNvSpPr/>
          <p:nvPr/>
        </p:nvSpPr>
        <p:spPr>
          <a:xfrm>
            <a:off x="107504" y="4020146"/>
            <a:ext cx="31818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UNO R4 </a:t>
            </a:r>
            <a:r>
              <a:rPr lang="en-US" altLang="zh-TW" sz="1400" dirty="0" err="1"/>
              <a:t>WiFi</a:t>
            </a:r>
            <a:r>
              <a:rPr lang="zh-TW" altLang="en-US" sz="1400" dirty="0"/>
              <a:t>開發板有個</a:t>
            </a:r>
            <a:r>
              <a:rPr lang="en-US" altLang="zh-TW" sz="1400" dirty="0" err="1"/>
              <a:t>Qwiic</a:t>
            </a:r>
            <a:r>
              <a:rPr lang="zh-TW" altLang="en-US" sz="1400" dirty="0"/>
              <a:t>介面，它是美國</a:t>
            </a:r>
            <a:r>
              <a:rPr lang="en-US" altLang="zh-TW" sz="1400" dirty="0" err="1"/>
              <a:t>SparkFun</a:t>
            </a:r>
            <a:r>
              <a:rPr lang="zh-TW" altLang="en-US" sz="1400" dirty="0"/>
              <a:t>電子公司發明的</a:t>
            </a:r>
            <a:r>
              <a:rPr lang="en-US" altLang="zh-TW" sz="1400" dirty="0"/>
              <a:t>I²C</a:t>
            </a:r>
            <a:r>
              <a:rPr lang="zh-TW" altLang="en-US" sz="1400" dirty="0"/>
              <a:t>簡化介面；</a:t>
            </a:r>
            <a:r>
              <a:rPr lang="en-US" altLang="zh-TW" sz="1400" dirty="0" err="1"/>
              <a:t>Qwiic</a:t>
            </a:r>
            <a:r>
              <a:rPr lang="zh-TW" altLang="en-US" sz="1400" dirty="0"/>
              <a:t>本質上就是</a:t>
            </a:r>
            <a:r>
              <a:rPr lang="en-US" altLang="zh-TW" sz="1400" dirty="0"/>
              <a:t>I2C</a:t>
            </a:r>
            <a:r>
              <a:rPr lang="zh-TW" altLang="en-US" sz="1400" dirty="0"/>
              <a:t>，只是它把資料線和電源做成一個接頭。</a:t>
            </a:r>
          </a:p>
        </p:txBody>
      </p:sp>
      <p:sp>
        <p:nvSpPr>
          <p:cNvPr id="8" name="Oval 10245">
            <a:extLst>
              <a:ext uri="{FF2B5EF4-FFF2-40B4-BE49-F238E27FC236}">
                <a16:creationId xmlns:a16="http://schemas.microsoft.com/office/drawing/2014/main" id="{596C4CCC-488A-DCAB-D314-CB187A9E6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50306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 Box 10246">
            <a:extLst>
              <a:ext uri="{FF2B5EF4-FFF2-40B4-BE49-F238E27FC236}">
                <a16:creationId xmlns:a16="http://schemas.microsoft.com/office/drawing/2014/main" id="{E6253852-7FEB-EC56-6EB7-502A3ED4A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20" y="264753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>
                <a:solidFill>
                  <a:schemeClr val="bg1"/>
                </a:solidFill>
                <a:latin typeface="微軟正黑體" panose="020B0604030504040204" pitchFamily="34" charset="-120"/>
              </a:rPr>
              <a:t>38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F035A6-7CB1-7940-9B81-58385AC21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904" y="1360068"/>
            <a:ext cx="5257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13F8188-57E7-F7E6-B877-7E8225AE6B79}"/>
              </a:ext>
            </a:extLst>
          </p:cNvPr>
          <p:cNvSpPr txBox="1"/>
          <p:nvPr/>
        </p:nvSpPr>
        <p:spPr>
          <a:xfrm>
            <a:off x="3455504" y="3995678"/>
            <a:ext cx="540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#include &lt;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Wire.h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&gt;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引用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I2C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通訊程式庫</a:t>
            </a: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void setup() {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byte total, code; 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暫存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I2C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裝置總數和錯誤代碼</a:t>
            </a: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b="1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Wire1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.begin(); 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初始化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Qwiic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（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I2C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）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通訊介面</a:t>
            </a: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b="1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Wire1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.setClock(100000UL);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設定時脈速率，此行可省略。</a:t>
            </a: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Serial.begin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(9600);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Serial.println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("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掃描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I2C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…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");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開始掃描（傳送位址）</a:t>
            </a: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for (byte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= 1;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&lt; 127;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++ ) {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  Wire1.beginTransmission(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  code = Wire1.endTransmission();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     :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SimSun" panose="02010600030101010101" pitchFamily="2" charset="-122"/>
              </a:rPr>
              <a:t>其餘程式不變，故略。</a:t>
            </a:r>
          </a:p>
        </p:txBody>
      </p:sp>
    </p:spTree>
    <p:extLst>
      <p:ext uri="{BB962C8B-B14F-4D97-AF65-F5344CB8AC3E}">
        <p14:creationId xmlns:p14="http://schemas.microsoft.com/office/powerpoint/2010/main" val="2277527571"/>
      </p:ext>
    </p:extLst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Pages>0</Pages>
  <Words>1068</Words>
  <Characters>0</Characters>
  <Application>Microsoft Office PowerPoint</Application>
  <DocSecurity>0</DocSecurity>
  <PresentationFormat>如螢幕大小 (4:3)</PresentationFormat>
  <Lines>0</Lines>
  <Paragraphs>154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SimSun</vt:lpstr>
      <vt:lpstr>微軟正黑體</vt:lpstr>
      <vt:lpstr>新細明體</vt:lpstr>
      <vt:lpstr>Arial</vt:lpstr>
      <vt:lpstr>Lucida Sans</vt:lpstr>
      <vt:lpstr>Times New Roman</vt:lpstr>
      <vt:lpstr>Wingdings</vt:lpstr>
      <vt:lpstr>Custom Design</vt:lpstr>
      <vt:lpstr>Custom Design_2</vt:lpstr>
      <vt:lpstr>1_Custom Design</vt:lpstr>
      <vt:lpstr>PowerPoint 簡報</vt:lpstr>
      <vt:lpstr>第九章 I2C序列通訊介面與 LCD顯示器</vt:lpstr>
      <vt:lpstr>HD44780相容的文字顯示器</vt:lpstr>
      <vt:lpstr>在LCD上顯示一段文字</vt:lpstr>
      <vt:lpstr>LCD顯示器程式說明（一）</vt:lpstr>
      <vt:lpstr>LCD顯示器程式說明（二）</vt:lpstr>
      <vt:lpstr>認識I2C介面</vt:lpstr>
      <vt:lpstr>I2C序列連接LCD顯示器</vt:lpstr>
      <vt:lpstr>安裝第三方程式庫</vt:lpstr>
      <vt:lpstr>移植LCD模組程式</vt:lpstr>
      <vt:lpstr>掃描I2C匯流排的週邊位址</vt:lpstr>
      <vt:lpstr>LCD顯示器的特殊字元和自訂字元</vt:lpstr>
      <vt:lpstr>在LCD上顯示自訂字元符號</vt:lpstr>
      <vt:lpstr>自訂字元動畫</vt:lpstr>
      <vt:lpstr>透過I2C串連兩個Arduino板</vt:lpstr>
      <vt:lpstr>在I2C介面上傳送整數資料(V)</vt:lpstr>
      <vt:lpstr>DHT11的單線雙向 通訊格式（1-Wire）</vt:lpstr>
      <vt:lpstr>數位溫濕度感測器</vt:lpstr>
      <vt:lpstr>Qwiic介面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I2C序列通訊介面與LCD顯示器</dc:title>
  <dc:subject/>
  <dc:creator>趙英傑</dc:creator>
  <cp:keywords/>
  <dc:description/>
  <cp:lastModifiedBy>419</cp:lastModifiedBy>
  <cp:revision>59</cp:revision>
  <dcterms:created xsi:type="dcterms:W3CDTF">2013-06-03T22:45:21Z</dcterms:created>
  <dcterms:modified xsi:type="dcterms:W3CDTF">2025-11-10T11:51:55Z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