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698" r:id="rId3"/>
  </p:sldMasterIdLst>
  <p:sldIdLst>
    <p:sldId id="256" r:id="rId4"/>
    <p:sldId id="297" r:id="rId5"/>
    <p:sldId id="273" r:id="rId6"/>
    <p:sldId id="274" r:id="rId7"/>
    <p:sldId id="290" r:id="rId8"/>
    <p:sldId id="291" r:id="rId9"/>
    <p:sldId id="292" r:id="rId10"/>
    <p:sldId id="304" r:id="rId11"/>
    <p:sldId id="294" r:id="rId12"/>
    <p:sldId id="295" r:id="rId13"/>
    <p:sldId id="296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Objects="1">
      <p:cViewPr varScale="1">
        <p:scale>
          <a:sx n="78" d="100"/>
          <a:sy n="78" d="100"/>
        </p:scale>
        <p:origin x="1594" y="62"/>
      </p:cViewPr>
      <p:guideLst>
        <p:guide orient="horz" pos="21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9995290A-4098-4C1F-AF56-3BE8AFBD5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DBE954F-1F6E-4489-867B-C05FF30220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E7A09-9346-4849-9B6D-4AA3899574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586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B435805-D3D5-4F69-A0AD-4FCB89F07A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DF851C49-3070-4D6D-8C9E-7909E03EA7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7DD46D-D1F3-45EF-B9AF-291BDD3B97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00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CD30EA3-20B1-4DAE-87EC-FCAB75A4E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9FB0953-CF38-40DE-9B03-4032509128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4477BB-D2F5-4144-A06D-9F0329FE75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69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0101D2CD-2FC9-41ED-AD69-9866F281B9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DBAF37C9-2E55-46D3-843D-64A11C6645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8DA5C-CBD2-48EB-8279-0D4A158201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92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47F76C0C-03DE-4E80-B4FF-6D8F0CBB07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2C84B21E-2024-4DFD-A29B-58DE02561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1DE040-C493-4B59-B7CA-5C606A8F01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74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C7F4743F-9F48-42D6-8B2B-32CED97F81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EA13B1EC-DB4B-4970-A15E-2C77AB4D62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644D5-DBCA-4BC4-971F-BDC2B45599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794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50D3A434-2EE9-4742-81C6-7D4BE973D5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7EC18B54-D134-48B7-8040-C4A2D3C67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1DD2D-B54F-4499-820C-5FD0EDEEF5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3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668A622B-9FEB-4FEE-98C9-E197846D8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7A32F454-4E1D-42C8-A20B-8333A25A43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4B729D-58A8-4BDC-A3B2-1BCED0DD32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83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FEE46A0-A975-454A-924D-B4757A5CEF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9A74B3AF-EFD3-4B09-AC81-94E0B115E8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E467B2-E62B-4233-B675-89EDD6F975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12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31966BB-7350-4F7B-AFD4-BEDAB9C96A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F6FB7FFF-513C-4468-B7EF-48BD8E1942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4323EA-7EF7-4311-945D-F1B5B0450A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37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3BADCBC7-3D39-485A-BE3E-9F5933669D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85CCEE3B-04B4-458E-8C9B-F8867FF010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A7BBC8-185E-4D3A-B7A1-845D6A39B0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41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7075C893-13EA-48E9-8E05-D4A9330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2C55BB64-14D0-45D6-9DBA-926D4A12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651337CD-09EE-4E28-83BD-BB0BA1A1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2AE3C9-A4FB-4AFC-86E4-EB51B45E16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54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051B22C4-8BAC-4AB6-8263-9F801D33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FF3ACB13-C9D2-4391-8F1D-6C8E8E9B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3FC676A-6E1B-429A-9034-29DD0F78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18AC0F-03F9-4146-B75A-4D562C5214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81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990967DD-643A-42E0-9DAD-96B33ABC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3B30CB31-A6AA-4E34-A9CF-EF2CFD50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161FAA34-D63E-4A37-B7ED-0A19B830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1BEBF-D41D-4AA4-99BB-6481EA4BC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31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ADEBE0F0-A81F-495E-B594-39179CBC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F691F9D-21D1-4B17-9051-B74CDB0E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1643036-7B4B-4273-AA9D-90687655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4F2357-51F2-48D2-B787-BBFBFB80DA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2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949F6D5E-E7D9-4D8A-811E-DEEB0406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6D38A40A-7B0D-4259-9071-ED919FF7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6D05DB52-E747-4A7D-8218-91459D36C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E36227-EBC9-40FD-B5F0-6F6A60C208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90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76754826-2742-4ADA-8212-0995B52A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ADF9C932-E2B7-4FEA-8FBF-53E66606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0DFEE602-1331-4A06-B0DA-466E8859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B87F1-C392-4283-9B92-7A3E8CF1EF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64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7C7F1CD8-EC3C-413E-A751-CDAF0330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D25C55B5-2C6B-4380-B0A9-7389D07A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E95FE889-4C8C-4DFB-AFF2-F8CFA616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22B513-9CED-4361-A3C3-66270DE00BD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65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0CB71AF8-000C-4174-984D-026989EB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421ABA6-B1A2-4975-8A25-FF58511E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94CABC00-43E0-4162-98FE-D9905D4D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30EE0-EDB2-43BC-9507-88D9283CF3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6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D8A94308-9E01-4615-9F46-D5E6EC91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491FBD8F-B882-4F2C-959B-3394FAD5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DB41D505-0BF2-4ACF-9DCE-D618438C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653F3D-CCA4-4EFD-8224-4A3F603C2C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5D929806-3A73-444E-95D6-9C7506FB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202AE90F-D6E6-43CF-BFA3-32063822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B007C2F-14B6-4790-817F-4EF605E1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DE910E-4DE9-4EFD-B7F8-5014D4C783D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217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1277FB6E-5CB0-4469-AEE6-13C71A45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DF1903B0-F856-4D2A-B0EC-218946D2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F92DBD56-A955-4794-B392-88718E67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D230E1-AB7E-493E-9827-576601CD13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6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CD63C59-0656-4B78-9F43-FFC1D6FC15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04F9F67-ECA4-4281-9E19-8478F0619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368AD2-69C6-4663-AA36-BD636F5E2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92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B2BF9D7-ECAA-4CEB-8621-E1F8506869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B6CE5C6B-BA27-4879-8792-2238F605F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B81230-0B58-4A01-96D1-AE84B52211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135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8CA1C61-EF91-4C5B-8E35-7DC7CED19A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ECF064FC-08A6-49B6-90F1-5F3EA6EE5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66B0B-2349-4227-A802-6F287DD32F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311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47CAFD34-A503-428C-B023-0F98F3CD8A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9AAAB4CE-4F39-4D46-967B-4F0871E99C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73AEE5-6AC7-4C9A-A7A0-FAF987B25A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831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FCFCD6F6-DB15-434C-A18E-898D87F772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33758170-ECDF-4E4B-95CF-A4E4E62EEB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97F519-D495-49A0-9334-8B9A07A94D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205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67DE4780-B060-483A-986A-12D6B2E16A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0A177618-6554-4D18-AFFF-72A2B58BFF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EC8595-D0C6-459E-8537-9C1DAD6178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904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DBB288BC-92E6-4F24-B4D9-CD051F8CD9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55F428C0-611D-4F07-9031-EA18DFAF7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D5BF0D-1261-41D3-AF95-5FBDB68057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81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56E72FD0-10EB-4D4D-BE45-A7A6CD086F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AE033925-2B77-4561-BAAA-9F6AC7FB9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64AA7B-99A0-4FDE-84A6-47D2C894594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02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7B8AEC2-348E-4B02-A918-5F750A4A1C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899EB2F0-3956-4648-99EA-17BB872A58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73828F-F27B-4F49-9012-32660F426E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133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3C272815-0E60-4A9C-AC61-7CED6077DF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8CCAE60-EC64-4942-8736-DF7DD7AD3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605CFF-B8C7-4229-AB51-918AACFC85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53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47776B2E-3ADF-442D-A332-CA696A5B6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592828D-8618-422F-B6D4-167C095F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D61300-FCD0-405D-B944-D4D40A3790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219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452A021-D382-CB3B-1EA4-914249226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1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74422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611C2D53-D883-438D-AD49-F2B2FD6D24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913" y="1720850"/>
            <a:ext cx="4652963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CCDE9A97-6DF6-4A89-BAB7-465588B10A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E59267E2-187C-41A0-A0CD-12E89F6271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6FD5533E-1DE5-4523-9500-C393BCAFB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0FCD4F84-B00C-4F7D-88B4-7BEA930F2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B3A855A-422A-48A2-ACC3-42554CA52C5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8" r:id="rId2"/>
    <p:sldLayoutId id="2147483707" r:id="rId3"/>
    <p:sldLayoutId id="2147483706" r:id="rId4"/>
    <p:sldLayoutId id="2147483705" r:id="rId5"/>
    <p:sldLayoutId id="2147483704" r:id="rId6"/>
    <p:sldLayoutId id="2147483703" r:id="rId7"/>
    <p:sldLayoutId id="2147483702" r:id="rId8"/>
    <p:sldLayoutId id="2147483701" r:id="rId9"/>
    <p:sldLayoutId id="2147483700" r:id="rId10"/>
    <p:sldLayoutId id="2147483699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0E80CB06-F7FE-4C4E-A7CD-91F231416E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0977DCD1-C7B1-4CDB-9CE5-0F3A8176E5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AC5096E9-0292-4BF3-9CA6-9C6E32E20F2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BF882AD1-52D3-4DCD-9084-5DC50DDDA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2FFFED29-2C5C-407F-96A2-20F687DB2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D69CC4C8-4FD9-4445-A553-866FB762D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E8E3C977-67B5-4CC8-A38A-772FA5460A3F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18" r:id="rId3"/>
    <p:sldLayoutId id="2147483717" r:id="rId4"/>
    <p:sldLayoutId id="2147483716" r:id="rId5"/>
    <p:sldLayoutId id="2147483715" r:id="rId6"/>
    <p:sldLayoutId id="2147483714" r:id="rId7"/>
    <p:sldLayoutId id="2147483713" r:id="rId8"/>
    <p:sldLayoutId id="2147483712" r:id="rId9"/>
    <p:sldLayoutId id="2147483711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92665A80-722A-4738-8A59-38B4B66BCD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4E47CFF8-DD2C-4FE2-9D10-5EBEEB779C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E188B901-967B-430B-A729-F0EACF946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441DA540-5186-44EA-A753-D57ABD6E0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9805BDB2-6EFB-43BB-BF34-C681B7351FD7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720F2CE-B355-E059-424E-05B0E45F5D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5" y="2492896"/>
            <a:ext cx="2286959" cy="3125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39" r:id="rId3"/>
    <p:sldLayoutId id="2147483738" r:id="rId4"/>
    <p:sldLayoutId id="2147483737" r:id="rId5"/>
    <p:sldLayoutId id="2147483736" r:id="rId6"/>
    <p:sldLayoutId id="2147483735" r:id="rId7"/>
    <p:sldLayoutId id="2147483734" r:id="rId8"/>
    <p:sldLayoutId id="2147483733" r:id="rId9"/>
    <p:sldLayoutId id="2147483732" r:id="rId10"/>
    <p:sldLayoutId id="2147483731" r:id="rId11"/>
    <p:sldLayoutId id="2147483742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9">
            <a:extLst>
              <a:ext uri="{FF2B5EF4-FFF2-40B4-BE49-F238E27FC236}">
                <a16:creationId xmlns:a16="http://schemas.microsoft.com/office/drawing/2014/main" id="{CA752FB6-0809-4807-9A8F-3AF6C75CA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第十二章 超音波距離感測、物件導向程式設計與自製程式庫</a:t>
            </a:r>
          </a:p>
        </p:txBody>
      </p:sp>
      <p:sp>
        <p:nvSpPr>
          <p:cNvPr id="7170" name="Text Placeholder 7170">
            <a:extLst>
              <a:ext uri="{FF2B5EF4-FFF2-40B4-BE49-F238E27FC236}">
                <a16:creationId xmlns:a16="http://schemas.microsoft.com/office/drawing/2014/main" id="{E9577D45-A549-4D7E-9934-FE0032BD2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1880" y="1600201"/>
            <a:ext cx="5196508" cy="3989040"/>
          </a:xfrm>
        </p:spPr>
        <p:txBody>
          <a:bodyPr/>
          <a:lstStyle/>
          <a:p>
            <a:r>
              <a:rPr lang="zh-TW" altLang="en-US" sz="2400" dirty="0"/>
              <a:t>認識超音波</a:t>
            </a:r>
            <a:endParaRPr lang="en-US" altLang="zh-TW" sz="2400" dirty="0"/>
          </a:p>
          <a:p>
            <a:r>
              <a:rPr lang="zh-TW" altLang="en-US" sz="2400" dirty="0"/>
              <a:t>使用超音波感測器製作數位量尺</a:t>
            </a:r>
            <a:endParaRPr lang="en-US" altLang="en-US" sz="2400" dirty="0"/>
          </a:p>
          <a:p>
            <a:r>
              <a:rPr lang="zh-TW" altLang="en-US" sz="2400" dirty="0"/>
              <a:t>物件導向程式設計：自己寫程式庫</a:t>
            </a:r>
            <a:endParaRPr lang="en-US" altLang="zh-TW" sz="2400" dirty="0"/>
          </a:p>
          <a:p>
            <a:r>
              <a:rPr lang="zh-TW" altLang="en-US" sz="2400" dirty="0"/>
              <a:t>建立程式模組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20481">
            <a:extLst>
              <a:ext uri="{FF2B5EF4-FFF2-40B4-BE49-F238E27FC236}">
                <a16:creationId xmlns:a16="http://schemas.microsoft.com/office/drawing/2014/main" id="{EE34CF8F-4B8A-4D0E-B516-0E21AF9E9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認識超音波</a:t>
            </a:r>
          </a:p>
        </p:txBody>
      </p:sp>
      <p:sp>
        <p:nvSpPr>
          <p:cNvPr id="20482" name="Text Box 20482">
            <a:extLst>
              <a:ext uri="{FF2B5EF4-FFF2-40B4-BE49-F238E27FC236}">
                <a16:creationId xmlns:a16="http://schemas.microsoft.com/office/drawing/2014/main" id="{F42957E1-1833-46FA-99B2-ADA09768E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5900"/>
            <a:ext cx="567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高於人耳可聽見的最高頻率以上的聲波，稱為超音波。</a:t>
            </a:r>
          </a:p>
        </p:txBody>
      </p:sp>
      <p:pic>
        <p:nvPicPr>
          <p:cNvPr id="20483" name="Picture 20483" descr="lcd33">
            <a:extLst>
              <a:ext uri="{FF2B5EF4-FFF2-40B4-BE49-F238E27FC236}">
                <a16:creationId xmlns:a16="http://schemas.microsoft.com/office/drawing/2014/main" id="{AE3FF3D3-EA6B-43C1-9047-957652394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068513"/>
            <a:ext cx="37052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20484">
            <a:extLst>
              <a:ext uri="{FF2B5EF4-FFF2-40B4-BE49-F238E27FC236}">
                <a16:creationId xmlns:a16="http://schemas.microsoft.com/office/drawing/2014/main" id="{6382A44F-8483-47FC-B757-BB100E9AC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60800"/>
            <a:ext cx="74152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從聲音的傳播速度和傳播時間，可求出距離，而物體的實際距離是傳播時間的一半，從此可求得1公分距離的聲波傳遞時間約為58µs（微秒）：</a:t>
            </a:r>
          </a:p>
        </p:txBody>
      </p:sp>
      <p:pic>
        <p:nvPicPr>
          <p:cNvPr id="20485" name="Picture 20485" descr="lcd34_1">
            <a:extLst>
              <a:ext uri="{FF2B5EF4-FFF2-40B4-BE49-F238E27FC236}">
                <a16:creationId xmlns:a16="http://schemas.microsoft.com/office/drawing/2014/main" id="{63A10AD0-A482-4969-A020-3F391BA13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4941888"/>
            <a:ext cx="63627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Oval 20486">
            <a:extLst>
              <a:ext uri="{FF2B5EF4-FFF2-40B4-BE49-F238E27FC236}">
                <a16:creationId xmlns:a16="http://schemas.microsoft.com/office/drawing/2014/main" id="{BA7BA30B-F5FE-4F08-8E27-838FA5746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0" y="138588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7" name="Text Box 20487">
            <a:extLst>
              <a:ext uri="{FF2B5EF4-FFF2-40B4-BE49-F238E27FC236}">
                <a16:creationId xmlns:a16="http://schemas.microsoft.com/office/drawing/2014/main" id="{293717DD-EDD6-40FB-90D4-A8AB5B3D3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12" y="153035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12-2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21505">
            <a:extLst>
              <a:ext uri="{FF2B5EF4-FFF2-40B4-BE49-F238E27FC236}">
                <a16:creationId xmlns:a16="http://schemas.microsoft.com/office/drawing/2014/main" id="{4A99C276-C929-4B0C-A506-7A45B37E2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超音波感測器元件簡介</a:t>
            </a:r>
          </a:p>
        </p:txBody>
      </p:sp>
      <p:sp>
        <p:nvSpPr>
          <p:cNvPr id="21507" name="Text Box 21507">
            <a:extLst>
              <a:ext uri="{FF2B5EF4-FFF2-40B4-BE49-F238E27FC236}">
                <a16:creationId xmlns:a16="http://schemas.microsoft.com/office/drawing/2014/main" id="{28806E38-6A9C-42FB-8291-8B9B89CE8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484313"/>
            <a:ext cx="666273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超音波感測器模組上面通常有兩個超音波元件，一個用於發射，</a:t>
            </a:r>
          </a:p>
          <a:p>
            <a:r>
              <a:rPr lang="en-US" altLang="en-US"/>
              <a:t>一個用於接收；也有收發一體型。</a:t>
            </a:r>
          </a:p>
        </p:txBody>
      </p:sp>
      <p:pic>
        <p:nvPicPr>
          <p:cNvPr id="21508" name="Picture 21508" descr="lcd40">
            <a:extLst>
              <a:ext uri="{FF2B5EF4-FFF2-40B4-BE49-F238E27FC236}">
                <a16:creationId xmlns:a16="http://schemas.microsoft.com/office/drawing/2014/main" id="{402B785B-C426-4633-8C16-9805E7E8D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149725"/>
            <a:ext cx="5324475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21509">
            <a:extLst>
              <a:ext uri="{FF2B5EF4-FFF2-40B4-BE49-F238E27FC236}">
                <a16:creationId xmlns:a16="http://schemas.microsoft.com/office/drawing/2014/main" id="{B231F702-079F-42C6-9C21-1413C1DA1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437063"/>
            <a:ext cx="2630488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在「觸發」腳位輸入10微秒以上的高電位，即可發射超音波；</a:t>
            </a:r>
          </a:p>
          <a:p>
            <a:endParaRPr lang="en-US" altLang="en-US">
              <a:latin typeface="微軟正黑體" panose="020B0604030504040204" pitchFamily="34" charset="-120"/>
            </a:endParaRPr>
          </a:p>
          <a:p>
            <a:r>
              <a:rPr lang="en-US" altLang="en-US">
                <a:latin typeface="微軟正黑體" panose="020B0604030504040204" pitchFamily="34" charset="-120"/>
              </a:rPr>
              <a:t>發射之後，接收到傳回的超音波之前，「回應」腳位將呈現高電位。</a:t>
            </a:r>
          </a:p>
        </p:txBody>
      </p:sp>
      <p:sp>
        <p:nvSpPr>
          <p:cNvPr id="21510" name="Oval 21510">
            <a:extLst>
              <a:ext uri="{FF2B5EF4-FFF2-40B4-BE49-F238E27FC236}">
                <a16:creationId xmlns:a16="http://schemas.microsoft.com/office/drawing/2014/main" id="{E591938A-E03C-4E3A-936B-39DF4FD28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3068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1511" name="Text Box 21511">
            <a:extLst>
              <a:ext uri="{FF2B5EF4-FFF2-40B4-BE49-F238E27FC236}">
                <a16:creationId xmlns:a16="http://schemas.microsoft.com/office/drawing/2014/main" id="{5BBB089A-9667-44F2-A02A-DA98B1EB1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210" y="321310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301A708-CEC1-4A1D-B7C2-EE038AA7508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99970"/>
            <a:ext cx="5273040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22529">
            <a:extLst>
              <a:ext uri="{FF2B5EF4-FFF2-40B4-BE49-F238E27FC236}">
                <a16:creationId xmlns:a16="http://schemas.microsoft.com/office/drawing/2014/main" id="{2C557130-ECF5-4FD0-8D44-724237F99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超音波數位量尺</a:t>
            </a:r>
          </a:p>
        </p:txBody>
      </p:sp>
      <p:pic>
        <p:nvPicPr>
          <p:cNvPr id="22530" name="Picture 22530" descr="lcd43">
            <a:extLst>
              <a:ext uri="{FF2B5EF4-FFF2-40B4-BE49-F238E27FC236}">
                <a16:creationId xmlns:a16="http://schemas.microsoft.com/office/drawing/2014/main" id="{1E273D38-8554-48C5-955B-97ED35B60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5588000"/>
            <a:ext cx="62007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22531">
            <a:extLst>
              <a:ext uri="{FF2B5EF4-FFF2-40B4-BE49-F238E27FC236}">
                <a16:creationId xmlns:a16="http://schemas.microsoft.com/office/drawing/2014/main" id="{910DBDDB-2BE5-4E62-945F-EABB5CA4A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075" y="4467225"/>
            <a:ext cx="5591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藉由測量脈衝時間長度的pulseIn()函數，可得知超音波的回應時間並藉此計算距離。</a:t>
            </a:r>
          </a:p>
        </p:txBody>
      </p:sp>
      <p:sp>
        <p:nvSpPr>
          <p:cNvPr id="22532" name="Oval 22532">
            <a:extLst>
              <a:ext uri="{FF2B5EF4-FFF2-40B4-BE49-F238E27FC236}">
                <a16:creationId xmlns:a16="http://schemas.microsoft.com/office/drawing/2014/main" id="{2A0989F5-B35A-43CD-9A90-477940B2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162877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2533" name="Text Box 22533">
            <a:extLst>
              <a:ext uri="{FF2B5EF4-FFF2-40B4-BE49-F238E27FC236}">
                <a16:creationId xmlns:a16="http://schemas.microsoft.com/office/drawing/2014/main" id="{856E2A4C-767E-45AF-9521-5716BFF19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210" y="177323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22534" name="Picture 1" descr="lcd41">
            <a:extLst>
              <a:ext uri="{FF2B5EF4-FFF2-40B4-BE49-F238E27FC236}">
                <a16:creationId xmlns:a16="http://schemas.microsoft.com/office/drawing/2014/main" id="{D1B9D9C8-C695-4D1F-9DC6-19F445631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773238"/>
            <a:ext cx="4383088" cy="195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FAB28-2DF1-4F12-9926-5E9A6E8C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物件導向程式設計：</a:t>
            </a:r>
            <a:br>
              <a:rPr lang="en-US" altLang="zh-TW" dirty="0"/>
            </a:br>
            <a:r>
              <a:rPr lang="zh-TW" altLang="zh-TW" dirty="0"/>
              <a:t>自己寫程式庫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727A39-59A1-4844-A1BD-DBCA35D76F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546" y="1865336"/>
            <a:ext cx="5269230" cy="201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E2EB92D-22A4-4D0B-8F32-01757A43C8A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53" y="4433962"/>
            <a:ext cx="4827021" cy="153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C367D75-7E35-47E0-812C-EC63DF7121A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71" y="4393872"/>
            <a:ext cx="3384376" cy="1614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7F3F25C-F131-4370-8F71-A1759B6BE2BA}"/>
              </a:ext>
            </a:extLst>
          </p:cNvPr>
          <p:cNvSpPr/>
          <p:nvPr/>
        </p:nvSpPr>
        <p:spPr>
          <a:xfrm>
            <a:off x="203253" y="1916832"/>
            <a:ext cx="29523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如果同一個程式檔摻雜了實現各種功能所需的變數和函式，會導致程式不易閱讀和維護</a:t>
            </a:r>
            <a:endParaRPr lang="en-US" altLang="zh-TW" sz="1400" dirty="0"/>
          </a:p>
          <a:p>
            <a:endParaRPr lang="en-US" altLang="zh-CN" sz="1400" dirty="0"/>
          </a:p>
          <a:p>
            <a:r>
              <a:rPr lang="zh-CN" altLang="zh-TW" sz="1400" dirty="0"/>
              <a:t>把一組相關變數∕常數和函式組織在一起的程式碼，叫做「類別（</a:t>
            </a:r>
            <a:r>
              <a:rPr lang="en-US" altLang="zh-TW" sz="1400" dirty="0"/>
              <a:t>class</a:t>
            </a:r>
            <a:r>
              <a:rPr lang="zh-CN" altLang="zh-TW" sz="1400" dirty="0"/>
              <a:t>）」，也被稱為「程式物件的規劃藍圖」。</a:t>
            </a:r>
            <a:endParaRPr lang="zh-TW" altLang="en-US" sz="1400" dirty="0"/>
          </a:p>
        </p:txBody>
      </p:sp>
      <p:sp>
        <p:nvSpPr>
          <p:cNvPr id="8" name="Oval 22532">
            <a:extLst>
              <a:ext uri="{FF2B5EF4-FFF2-40B4-BE49-F238E27FC236}">
                <a16:creationId xmlns:a16="http://schemas.microsoft.com/office/drawing/2014/main" id="{F286B5BD-7965-4530-8B09-62E7C0755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176" y="5805264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22533">
            <a:extLst>
              <a:ext uri="{FF2B5EF4-FFF2-40B4-BE49-F238E27FC236}">
                <a16:creationId xmlns:a16="http://schemas.microsoft.com/office/drawing/2014/main" id="{6E71219C-73AD-4C4E-8E6E-B3DD66E45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0836" y="5949727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12-8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073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4AB60A-7E75-4C78-B5F3-6DD2AE42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自製超音波類別程式</a:t>
            </a:r>
            <a:r>
              <a:rPr lang="zh-TW" altLang="en-US" dirty="0"/>
              <a:t>（一）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B9F630-EB07-4B28-963F-5FBBEA99FF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2186305" cy="1535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C2A74F5-4296-4EEB-8A82-EB72C220A7A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632" y="1700808"/>
            <a:ext cx="5276850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323DAB1-2F03-4B84-AE5C-5B1FAD38B4C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169" y="5558155"/>
            <a:ext cx="4904105" cy="11982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74D718F-C7A9-43EA-85FD-F44835CFAD26}"/>
              </a:ext>
            </a:extLst>
          </p:cNvPr>
          <p:cNvSpPr/>
          <p:nvPr/>
        </p:nvSpPr>
        <p:spPr>
          <a:xfrm>
            <a:off x="623484" y="3961356"/>
            <a:ext cx="600435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TW" sz="1400" dirty="0"/>
              <a:t>存取修飾子（</a:t>
            </a:r>
            <a:r>
              <a:rPr lang="en-US" altLang="zh-TW" sz="1400" dirty="0"/>
              <a:t>access modifier</a:t>
            </a:r>
            <a:r>
              <a:rPr lang="zh-CN" altLang="zh-TW" sz="1400" dirty="0"/>
              <a:t>）：</a:t>
            </a:r>
            <a:endParaRPr lang="zh-TW" altLang="zh-TW" sz="1400" dirty="0"/>
          </a:p>
          <a:p>
            <a:pPr algn="just">
              <a:spcAft>
                <a:spcPts val="0"/>
              </a:spcAft>
            </a:pPr>
            <a:r>
              <a:rPr lang="en-US" altLang="zh-TW" sz="1400" dirty="0"/>
              <a:t> 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TW" sz="1400" b="1" dirty="0"/>
              <a:t>公有的（</a:t>
            </a:r>
            <a:r>
              <a:rPr lang="en-US" altLang="zh-TW" sz="1400" b="1" dirty="0"/>
              <a:t>public</a:t>
            </a:r>
            <a:r>
              <a:rPr lang="zh-CN" altLang="zh-TW" sz="1400" b="1" dirty="0"/>
              <a:t>）</a:t>
            </a:r>
            <a:r>
              <a:rPr lang="zh-CN" altLang="zh-TW" sz="1400" dirty="0"/>
              <a:t>，可供類別外部程式自由存取。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TW" sz="1400" b="1" dirty="0"/>
              <a:t>保護的（</a:t>
            </a:r>
            <a:r>
              <a:rPr lang="en-US" altLang="zh-TW" sz="1400" b="1" dirty="0"/>
              <a:t>protected</a:t>
            </a:r>
            <a:r>
              <a:rPr lang="zh-CN" altLang="zh-TW" sz="1400" b="1" dirty="0"/>
              <a:t>）</a:t>
            </a:r>
            <a:r>
              <a:rPr lang="zh-CN" altLang="zh-TW" sz="1400" dirty="0"/>
              <a:t>，僅供類別內部或者擴充此類別的程式存取。</a:t>
            </a:r>
            <a:endParaRPr lang="en-US" altLang="zh-CN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TW" sz="1400" b="1" dirty="0"/>
              <a:t>私有的（</a:t>
            </a:r>
            <a:r>
              <a:rPr lang="en-US" altLang="zh-TW" sz="1400" b="1" dirty="0"/>
              <a:t>private</a:t>
            </a:r>
            <a:r>
              <a:rPr lang="zh-CN" altLang="zh-TW" sz="1400" b="1" dirty="0"/>
              <a:t>）</a:t>
            </a:r>
            <a:r>
              <a:rPr lang="zh-CN" altLang="zh-TW" sz="1400" dirty="0"/>
              <a:t>，僅限類別內部程式存取。</a:t>
            </a:r>
            <a:endParaRPr lang="zh-TW" altLang="en-US" sz="1400" dirty="0"/>
          </a:p>
        </p:txBody>
      </p:sp>
      <p:sp>
        <p:nvSpPr>
          <p:cNvPr id="8" name="Oval 22532">
            <a:extLst>
              <a:ext uri="{FF2B5EF4-FFF2-40B4-BE49-F238E27FC236}">
                <a16:creationId xmlns:a16="http://schemas.microsoft.com/office/drawing/2014/main" id="{6CBCBD56-71A2-4909-B7A4-4A26DD70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86" y="556858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22533">
            <a:extLst>
              <a:ext uri="{FF2B5EF4-FFF2-40B4-BE49-F238E27FC236}">
                <a16:creationId xmlns:a16="http://schemas.microsoft.com/office/drawing/2014/main" id="{A0188BF0-AB40-4B51-BCD1-3F9A2096F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46" y="5713044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12-9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850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3C804-B9FC-493F-92CB-A17C25724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自製超音波類別程式</a:t>
            </a:r>
            <a:r>
              <a:rPr lang="zh-TW" altLang="en-US" dirty="0"/>
              <a:t>（二）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087C8C-CBFB-4FEA-8904-97FC2D22031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00865"/>
            <a:ext cx="5269230" cy="42202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2147C15-34CE-45BB-BAC4-48DAE79370B2}"/>
              </a:ext>
            </a:extLst>
          </p:cNvPr>
          <p:cNvSpPr/>
          <p:nvPr/>
        </p:nvSpPr>
        <p:spPr>
          <a:xfrm>
            <a:off x="1547664" y="1568844"/>
            <a:ext cx="35101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kern="0" dirty="0">
                <a:ea typeface="新細明體" panose="02020500000000000000" pitchFamily="18" charset="-120"/>
              </a:rPr>
              <a:t>超音波模組的名稱命名成</a:t>
            </a:r>
            <a:r>
              <a:rPr lang="en-US" altLang="zh-TW" sz="1400" kern="0" dirty="0">
                <a:ea typeface="新細明體" panose="02020500000000000000" pitchFamily="18" charset="-120"/>
              </a:rPr>
              <a:t>HCSR05</a:t>
            </a:r>
            <a:r>
              <a:rPr lang="zh-TW" altLang="en-US" sz="1400" kern="0" dirty="0">
                <a:ea typeface="新細明體" panose="02020500000000000000" pitchFamily="18" charset="-120"/>
              </a:rPr>
              <a:t>：</a:t>
            </a:r>
            <a:endParaRPr lang="zh-TW" altLang="en-US" sz="1400" dirty="0"/>
          </a:p>
        </p:txBody>
      </p:sp>
      <p:sp>
        <p:nvSpPr>
          <p:cNvPr id="6" name="Oval 22532">
            <a:extLst>
              <a:ext uri="{FF2B5EF4-FFF2-40B4-BE49-F238E27FC236}">
                <a16:creationId xmlns:a16="http://schemas.microsoft.com/office/drawing/2014/main" id="{3127566C-91B1-4752-9D85-0069FDF9A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93" y="4004617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22533">
            <a:extLst>
              <a:ext uri="{FF2B5EF4-FFF2-40B4-BE49-F238E27FC236}">
                <a16:creationId xmlns:a16="http://schemas.microsoft.com/office/drawing/2014/main" id="{414C7492-FD84-4A66-A512-3F57491A4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23" y="4149080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12-11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22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E558C-323D-495A-8BFD-5910DD6D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建立程式模組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AC3486-CF85-47E7-BEF6-0E1F26B749C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464" y="4005064"/>
            <a:ext cx="5270500" cy="2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B7B78DE-9735-4FB7-9175-634D47E4E9F6}"/>
              </a:ext>
            </a:extLst>
          </p:cNvPr>
          <p:cNvSpPr/>
          <p:nvPr/>
        </p:nvSpPr>
        <p:spPr>
          <a:xfrm>
            <a:off x="323528" y="1700808"/>
            <a:ext cx="2592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超音波類別程式可以單獨存成一個</a:t>
            </a:r>
            <a:r>
              <a:rPr lang="en-US" altLang="zh-TW" sz="1400" dirty="0"/>
              <a:t>.h</a:t>
            </a:r>
            <a:r>
              <a:rPr lang="zh-TW" altLang="zh-TW" sz="1400" dirty="0"/>
              <a:t>檔</a:t>
            </a:r>
            <a:endParaRPr lang="zh-TW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169BE-F733-4DE5-951A-16C52DA57262}"/>
              </a:ext>
            </a:extLst>
          </p:cNvPr>
          <p:cNvSpPr/>
          <p:nvPr/>
        </p:nvSpPr>
        <p:spPr>
          <a:xfrm>
            <a:off x="323528" y="4077072"/>
            <a:ext cx="2862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Arduino</a:t>
            </a:r>
            <a:r>
              <a:rPr lang="zh-TW" altLang="zh-TW" sz="1400" dirty="0"/>
              <a:t>主程式檔</a:t>
            </a:r>
            <a:r>
              <a:rPr lang="zh-TW" altLang="en-US" sz="1400" dirty="0"/>
              <a:t>要</a:t>
            </a:r>
            <a:r>
              <a:rPr lang="zh-TW" altLang="zh-TW" sz="1400" dirty="0"/>
              <a:t>加上</a:t>
            </a:r>
            <a:r>
              <a:rPr lang="en-US" altLang="zh-TW" sz="1400" dirty="0"/>
              <a:t>#include</a:t>
            </a:r>
            <a:r>
              <a:rPr lang="zh-TW" altLang="zh-TW" sz="1400" dirty="0"/>
              <a:t>敘述引用此外部程式（</a:t>
            </a:r>
            <a:r>
              <a:rPr lang="en-US" altLang="zh-TW" sz="1400" dirty="0"/>
              <a:t>.h</a:t>
            </a:r>
            <a:r>
              <a:rPr lang="zh-TW" altLang="zh-TW" sz="1400" dirty="0"/>
              <a:t>檔）</a:t>
            </a:r>
            <a:endParaRPr lang="zh-TW" altLang="en-US" sz="1400" dirty="0"/>
          </a:p>
        </p:txBody>
      </p:sp>
      <p:sp>
        <p:nvSpPr>
          <p:cNvPr id="8" name="Oval 22532">
            <a:extLst>
              <a:ext uri="{FF2B5EF4-FFF2-40B4-BE49-F238E27FC236}">
                <a16:creationId xmlns:a16="http://schemas.microsoft.com/office/drawing/2014/main" id="{2AA00F1B-9B23-452F-9D10-759D27D7C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06" y="561901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22533">
            <a:extLst>
              <a:ext uri="{FF2B5EF4-FFF2-40B4-BE49-F238E27FC236}">
                <a16:creationId xmlns:a16="http://schemas.microsoft.com/office/drawing/2014/main" id="{1E44BA71-6CE8-4009-BFD6-6E4BF6E5F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7" y="576347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12-14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B74B88-6B9A-9211-643E-1040410E4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524" y="1370545"/>
            <a:ext cx="5274310" cy="832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2CC1B45-3F09-DAC0-1DDE-5A1E84DA9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592" y="2446965"/>
            <a:ext cx="3525311" cy="1314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414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8BB30-2DFB-4DA7-A5C0-D3E7CC0A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分割</a:t>
            </a:r>
            <a:r>
              <a:rPr lang="en-US" altLang="zh-TW" dirty="0"/>
              <a:t>.h</a:t>
            </a:r>
            <a:r>
              <a:rPr lang="zh-TW" altLang="zh-TW" dirty="0"/>
              <a:t>標頭檔和</a:t>
            </a:r>
            <a:br>
              <a:rPr lang="en-US" altLang="zh-TW" dirty="0"/>
            </a:br>
            <a:r>
              <a:rPr lang="en-US" altLang="zh-TW" dirty="0"/>
              <a:t>.</a:t>
            </a:r>
            <a:r>
              <a:rPr lang="en-US" altLang="zh-TW" dirty="0" err="1"/>
              <a:t>cpp</a:t>
            </a:r>
            <a:r>
              <a:rPr lang="zh-TW" altLang="zh-TW" dirty="0"/>
              <a:t>原始檔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6EAB72-0ED6-4D96-9022-CEC49411583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543" y="1763154"/>
            <a:ext cx="527304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AC4704F-C3D0-4C7A-8F1C-A7A8798DCE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83" y="4005064"/>
            <a:ext cx="5270500" cy="25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E2DD815-1DBD-42F5-920A-79A226AEC2F3}"/>
              </a:ext>
            </a:extLst>
          </p:cNvPr>
          <p:cNvSpPr/>
          <p:nvPr/>
        </p:nvSpPr>
        <p:spPr>
          <a:xfrm>
            <a:off x="320509" y="3167390"/>
            <a:ext cx="4296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“::”</a:t>
            </a:r>
            <a:r>
              <a:rPr lang="zh-TW" altLang="zh-TW" sz="1400" dirty="0"/>
              <a:t>是</a:t>
            </a:r>
            <a:r>
              <a:rPr lang="zh-TW" altLang="zh-TW" sz="1400" b="1" dirty="0"/>
              <a:t>範圍解析運算子</a:t>
            </a:r>
            <a:r>
              <a:rPr lang="zh-TW" altLang="zh-TW" sz="1400" dirty="0"/>
              <a:t>，</a:t>
            </a:r>
            <a:r>
              <a:rPr lang="en-US" altLang="zh-TW" sz="1400" dirty="0"/>
              <a:t>“HCSR05::ping()”</a:t>
            </a:r>
            <a:r>
              <a:rPr lang="zh-TW" altLang="zh-TW" sz="1400" dirty="0"/>
              <a:t>敘述指出“</a:t>
            </a:r>
            <a:r>
              <a:rPr lang="en-US" altLang="zh-TW" sz="1400" dirty="0"/>
              <a:t>ping()</a:t>
            </a:r>
            <a:r>
              <a:rPr lang="zh-TW" altLang="zh-TW" sz="1400" dirty="0"/>
              <a:t>”隸屬於</a:t>
            </a:r>
            <a:r>
              <a:rPr lang="en-US" altLang="zh-TW" sz="1400" dirty="0"/>
              <a:t>HCSR05</a:t>
            </a:r>
            <a:r>
              <a:rPr lang="zh-TW" altLang="zh-TW" sz="1400" dirty="0"/>
              <a:t>類別。</a:t>
            </a:r>
            <a:endParaRPr lang="zh-TW" altLang="en-US" sz="1400" dirty="0"/>
          </a:p>
        </p:txBody>
      </p:sp>
      <p:sp>
        <p:nvSpPr>
          <p:cNvPr id="7" name="Oval 22532">
            <a:extLst>
              <a:ext uri="{FF2B5EF4-FFF2-40B4-BE49-F238E27FC236}">
                <a16:creationId xmlns:a16="http://schemas.microsoft.com/office/drawing/2014/main" id="{3D62FCF7-D1B6-4E81-92A9-594CE508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" y="561340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22533">
            <a:extLst>
              <a:ext uri="{FF2B5EF4-FFF2-40B4-BE49-F238E27FC236}">
                <a16:creationId xmlns:a16="http://schemas.microsoft.com/office/drawing/2014/main" id="{D71D1341-58F9-4429-A8BD-E2A5C3616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348" y="5757863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12-15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31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36BA1-9C93-413E-A8D5-0C3B18E2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建立程式庫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D492D6-4372-4C3C-B01A-DB26D9534E9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851" y="1556792"/>
            <a:ext cx="5276850" cy="3162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725E98A-FA5C-4E39-83D3-17D856815103}"/>
              </a:ext>
            </a:extLst>
          </p:cNvPr>
          <p:cNvGraphicFramePr>
            <a:graphicFrameLocks noGrp="1"/>
          </p:cNvGraphicFramePr>
          <p:nvPr/>
        </p:nvGraphicFramePr>
        <p:xfrm>
          <a:off x="2390316" y="5347476"/>
          <a:ext cx="4947920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3195827207"/>
                    </a:ext>
                  </a:extLst>
                </a:gridCol>
                <a:gridCol w="1979930">
                  <a:extLst>
                    <a:ext uri="{9D8B030D-6E8A-4147-A177-3AD203B41FA5}">
                      <a16:colId xmlns:a16="http://schemas.microsoft.com/office/drawing/2014/main" val="1536172579"/>
                    </a:ext>
                  </a:extLst>
                </a:gridCol>
                <a:gridCol w="1710690">
                  <a:extLst>
                    <a:ext uri="{9D8B030D-6E8A-4147-A177-3AD203B41FA5}">
                      <a16:colId xmlns:a16="http://schemas.microsoft.com/office/drawing/2014/main" val="949887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分類名稱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用途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呈現樣式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8504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KEYWORD1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類別、資料類型和</a:t>
                      </a:r>
                      <a:r>
                        <a:rPr lang="en-US" sz="1200" kern="0">
                          <a:effectLst/>
                        </a:rPr>
                        <a:t>C++</a:t>
                      </a:r>
                      <a:r>
                        <a:rPr lang="zh-TW" sz="1200" kern="0">
                          <a:effectLst/>
                        </a:rPr>
                        <a:t>語言關鍵字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橙色、粗體字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368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KEYWORD2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函式和方法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橙色、一般樣式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301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KEYWORD3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setup, loop</a:t>
                      </a:r>
                      <a:r>
                        <a:rPr lang="zh-TW" sz="1200" kern="0">
                          <a:effectLst/>
                        </a:rPr>
                        <a:t>以及保留字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墨綠色、一般樣式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826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LITERAL1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常數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藍色、一般樣式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034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LITERAL2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尚未使用</a:t>
                      </a:r>
                      <a:endParaRPr lang="zh-TW" sz="105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effectLst/>
                        </a:rPr>
                        <a:t>藍色、一般樣式</a:t>
                      </a:r>
                      <a:endParaRPr lang="zh-TW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376950"/>
                  </a:ext>
                </a:extLst>
              </a:tr>
            </a:tbl>
          </a:graphicData>
        </a:graphic>
      </p:graphicFrame>
      <p:sp>
        <p:nvSpPr>
          <p:cNvPr id="6" name="Oval 22532">
            <a:extLst>
              <a:ext uri="{FF2B5EF4-FFF2-40B4-BE49-F238E27FC236}">
                <a16:creationId xmlns:a16="http://schemas.microsoft.com/office/drawing/2014/main" id="{C694A021-BFE7-4F94-8962-DC5AFDD3F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630" y="2638206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22533">
            <a:extLst>
              <a:ext uri="{FF2B5EF4-FFF2-40B4-BE49-F238E27FC236}">
                <a16:creationId xmlns:a16="http://schemas.microsoft.com/office/drawing/2014/main" id="{9C10B678-A26A-450B-B07B-7E8C686E3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361" y="2782669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12-19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869265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Pages>0</Pages>
  <Words>368</Words>
  <Characters>0</Characters>
  <Application>Microsoft Office PowerPoint</Application>
  <PresentationFormat>如螢幕大小 (4:3)</PresentationFormat>
  <Lines>0</Lines>
  <Paragraphs>70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微軟正黑體</vt:lpstr>
      <vt:lpstr>新細明體</vt:lpstr>
      <vt:lpstr>Arial</vt:lpstr>
      <vt:lpstr>Times New Roman</vt:lpstr>
      <vt:lpstr>Wingdings</vt:lpstr>
      <vt:lpstr>Custom Design</vt:lpstr>
      <vt:lpstr>Custom Design_2</vt:lpstr>
      <vt:lpstr>1_Custom Design</vt:lpstr>
      <vt:lpstr>PowerPoint 簡報</vt:lpstr>
      <vt:lpstr>第十二章 超音波距離感測、物件導向程式設計與自製程式庫</vt:lpstr>
      <vt:lpstr>認識超音波</vt:lpstr>
      <vt:lpstr>超音波感測器元件簡介</vt:lpstr>
      <vt:lpstr>超音波數位量尺</vt:lpstr>
      <vt:lpstr>物件導向程式設計： 自己寫程式庫</vt:lpstr>
      <vt:lpstr>自製超音波類別程式（一）</vt:lpstr>
      <vt:lpstr>自製超音波類別程式（二）</vt:lpstr>
      <vt:lpstr>建立程式模組</vt:lpstr>
      <vt:lpstr>分割.h標頭檔和 .cpp原始檔</vt:lpstr>
      <vt:lpstr>建立程式庫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馬達控制板與自動迴避障礙物的自走車</dc:title>
  <dc:subject/>
  <dc:creator>趙英傑</dc:creator>
  <cp:keywords/>
  <dc:description/>
  <cp:lastModifiedBy>Ying-Chieh Chao</cp:lastModifiedBy>
  <cp:revision>51</cp:revision>
  <dcterms:created xsi:type="dcterms:W3CDTF">2013-06-01T22:45:21Z</dcterms:created>
  <dcterms:modified xsi:type="dcterms:W3CDTF">2024-12-18T06:34:44Z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